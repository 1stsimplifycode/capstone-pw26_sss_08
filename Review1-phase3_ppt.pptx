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5" roundtripDataSignature="AMtx7mjb24/3oXfEol3mrTMEca2WFcYD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85cdd001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g3785cdd001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g3785cdd0013_0_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Project</a:t>
            </a:r>
            <a:endParaRPr/>
          </a:p>
        </p:txBody>
      </p:sp>
      <p:sp>
        <p:nvSpPr>
          <p:cNvPr id="105" name="Google Shape;105;g3785cdd0013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785cdd0013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g3785cdd0013_0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" name="Google Shape;113;g3785cdd0013_0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785cdd0013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g3785cdd0013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g3785cdd0013_0_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85cdd0013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3785cdd0013_0_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g3785cdd0013_0_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785cdd0013_0_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g3785cdd0013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785cdd0013_0_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1" name="Google Shape;151;g3785cdd0013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85cdd0013_0_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g3785cdd0013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785cdd0013_0_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9" name="Google Shape;169;g3785cdd0013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785cdd0013_0_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8" name="Google Shape;178;g3785cdd0013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785cdd0013_0_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7" name="Google Shape;187;g3785cdd0013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5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5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2" name="Google Shape;32;p15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7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7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7" name="Google Shape;47;p17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8"/>
          <p:cNvSpPr txBox="1">
            <a:spLocks noGrp="1"/>
          </p:cNvSpPr>
          <p:nvPr>
            <p:ph type="body" idx="1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9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body" idx="2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61" name="Google Shape;61;p19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0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1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1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1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dt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ft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2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2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>
            <a:spLocks noGrp="1"/>
          </p:cNvSpPr>
          <p:nvPr>
            <p:ph type="pic" idx="2"/>
          </p:nvPr>
        </p:nvSpPr>
        <p:spPr>
          <a:xfrm>
            <a:off x="15" y="0"/>
            <a:ext cx="12191985" cy="4915076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22"/>
          <p:cNvSpPr txBox="1">
            <a:spLocks noGrp="1"/>
          </p:cNvSpPr>
          <p:nvPr>
            <p:ph type="body" idx="1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4" name="Google Shape;84;p2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body" idx="1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0" name="Google Shape;90;p2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4"/>
          <p:cNvSpPr txBox="1">
            <a:spLocks noGrp="1"/>
          </p:cNvSpPr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4"/>
          <p:cNvSpPr txBox="1">
            <a:spLocks noGrp="1"/>
          </p:cNvSpPr>
          <p:nvPr>
            <p:ph type="body" idx="1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8" name="Google Shape;98;p2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3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" name="Google Shape;17;p13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85cdd0013_0_0"/>
          <p:cNvSpPr/>
          <p:nvPr/>
        </p:nvSpPr>
        <p:spPr>
          <a:xfrm>
            <a:off x="2387991" y="990600"/>
            <a:ext cx="7924800" cy="13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SzPts val="2800"/>
            </a:pPr>
            <a:r>
              <a:rPr lang="en-US" sz="28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UE23CS441A  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– 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Capstone Project Phase – </a:t>
            </a:r>
            <a:r>
              <a:rPr lang="en-US" sz="28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2800" b="0" i="0" u="none" strike="noStrike" cap="none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Progress </a:t>
            </a:r>
            <a:r>
              <a:rPr lang="en-US" sz="2800" b="0" i="0" u="none" strike="noStrike" cap="none" dirty="0" smtClean="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Review </a:t>
            </a:r>
            <a:r>
              <a:rPr lang="en-US" sz="2800" b="0" i="0" u="none" strike="noStrike" cap="none" dirty="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# 1</a:t>
            </a:r>
            <a:endParaRPr sz="2800" b="0" i="0" u="none" strike="noStrike" cap="none" dirty="0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8" name="Google Shape;108;g3785cdd0013_0_0"/>
          <p:cNvSpPr txBox="1"/>
          <p:nvPr/>
        </p:nvSpPr>
        <p:spPr>
          <a:xfrm>
            <a:off x="1828800" y="4419601"/>
            <a:ext cx="8458200" cy="13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Title   :  </a:t>
            </a:r>
            <a:endParaRPr sz="24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ID       :      </a:t>
            </a:r>
            <a:endParaRPr sz="24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Guide :                  </a:t>
            </a:r>
            <a:endParaRPr sz="24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Team  : </a:t>
            </a:r>
            <a:endParaRPr sz="20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09" name="Google Shape;109;g3785cdd0013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785cdd0013_0_8"/>
          <p:cNvSpPr txBox="1"/>
          <p:nvPr/>
        </p:nvSpPr>
        <p:spPr>
          <a:xfrm>
            <a:off x="1828800" y="1161650"/>
            <a:ext cx="8534400" cy="49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marR="0" lvl="0" indent="-215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Abstract and Scope of the Project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791" marR="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Capstone Project Phase – </a:t>
            </a:r>
            <a:r>
              <a:rPr lang="en-US" sz="24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2991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Summary of work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2991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Inferences drawn from Literature Survey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2991" marR="0" lvl="1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List of Tasks/Modules with Individual Contribution</a:t>
            </a:r>
            <a:endParaRPr sz="24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/>
              <a:buChar char="▪"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of overall Architecture</a:t>
            </a:r>
            <a:endParaRPr sz="24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marR="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Demonstration and Testing of the completed modules.</a:t>
            </a:r>
            <a:endParaRPr sz="24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marR="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Gantt chart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791" marR="0" lvl="0" indent="-342899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6" name="Google Shape;116;g3785cdd0013_0_8"/>
          <p:cNvSpPr txBox="1"/>
          <p:nvPr/>
        </p:nvSpPr>
        <p:spPr>
          <a:xfrm>
            <a:off x="4191000" y="699952"/>
            <a:ext cx="647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Outline</a:t>
            </a:r>
            <a:endParaRPr sz="24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17" name="Google Shape;117;g3785cdd0013_0_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3785cdd0013_0_8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Title of the Project</a:t>
            </a:r>
            <a:endParaRPr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785cdd0013_0_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name1_name2_name3_name4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85cdd0013_0_18"/>
          <p:cNvSpPr txBox="1"/>
          <p:nvPr/>
        </p:nvSpPr>
        <p:spPr>
          <a:xfrm>
            <a:off x="2057400" y="2209800"/>
            <a:ext cx="8077200" cy="4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Provide a basic introduction of the project and also an overview of scope it entails.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791" marR="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marR="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Set the context.</a:t>
            </a:r>
            <a:endParaRPr sz="24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6" name="Google Shape;126;g3785cdd0013_0_18"/>
          <p:cNvSpPr txBox="1"/>
          <p:nvPr/>
        </p:nvSpPr>
        <p:spPr>
          <a:xfrm>
            <a:off x="4191000" y="1025102"/>
            <a:ext cx="647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Abstract and Scope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g3785cdd0013_0_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785cdd0013_0_18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Title of the Project</a:t>
            </a:r>
            <a:endParaRPr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3785cdd0013_0_1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name1_name2_name3_name4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785cdd0013_0_28"/>
          <p:cNvSpPr txBox="1"/>
          <p:nvPr/>
        </p:nvSpPr>
        <p:spPr>
          <a:xfrm>
            <a:off x="2057400" y="2188868"/>
            <a:ext cx="9067800" cy="42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Provide summary of Phase – 1.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791" marR="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Include the suggestions and improvements made.</a:t>
            </a:r>
            <a:endParaRPr sz="24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6" name="Google Shape;136;g3785cdd0013_0_28"/>
          <p:cNvSpPr txBox="1"/>
          <p:nvPr/>
        </p:nvSpPr>
        <p:spPr>
          <a:xfrm>
            <a:off x="2895600" y="990600"/>
            <a:ext cx="7848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Summary of Work Done in Capstone Project Phase - 1</a:t>
            </a:r>
            <a:endParaRPr sz="24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37" name="Google Shape;137;g3785cdd0013_0_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3785cdd0013_0_28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Title of the Project</a:t>
            </a:r>
            <a:endParaRPr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785cdd0013_0_2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name1_name2_name3_name4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785cdd0013_0_38"/>
          <p:cNvSpPr txBox="1"/>
          <p:nvPr/>
        </p:nvSpPr>
        <p:spPr>
          <a:xfrm>
            <a:off x="2773600" y="812200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Architecture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3785cdd0013_0_38"/>
          <p:cNvSpPr txBox="1"/>
          <p:nvPr/>
        </p:nvSpPr>
        <p:spPr>
          <a:xfrm>
            <a:off x="1562100" y="2905646"/>
            <a:ext cx="90678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AutoNum type="arabicPeriod"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of overall Architecture and modules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g3785cdd0013_0_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3785cdd0013_0_38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Title of the Project</a:t>
            </a:r>
            <a:endParaRPr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785cdd0013_0_3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name1_name2_name3_name4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785cdd0013_0_47"/>
          <p:cNvSpPr txBox="1"/>
          <p:nvPr/>
        </p:nvSpPr>
        <p:spPr>
          <a:xfrm>
            <a:off x="3048000" y="780763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List of Tasks/Modules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3785cdd0013_0_47"/>
          <p:cNvSpPr txBox="1"/>
          <p:nvPr/>
        </p:nvSpPr>
        <p:spPr>
          <a:xfrm>
            <a:off x="1563675" y="1242475"/>
            <a:ext cx="9582300" cy="48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AutoNum type="arabicPeriod"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List of tasks/Modules to be elaborated in discussion with the guide.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2. For example, If your project consist of Data Preprocessing, the following should be explained,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3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AutoNum type="alphaLcParenR"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Data Collection &amp; Data Preparation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3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AutoNum type="alphaLcParenR"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Data Input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3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AutoNum type="alphaLcParenR"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Data Pre-processing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3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AutoNum type="alphaLcParenR"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Data Visualization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3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AutoNum type="alphaLcParenR"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Data Interpretation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3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AutoNum type="alphaLcParenR"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Storage</a:t>
            </a:r>
            <a:endParaRPr sz="24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2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3.</a:t>
            </a: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 List the SDK / API / Model / Jar/ DLL / Tools / Technologies used – Open-Source/ Licensed. 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g3785cdd0013_0_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3785cdd0013_0_47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Title of the Project</a:t>
            </a:r>
            <a:endParaRPr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785cdd0013_0_4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name1_name2_name3_name4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85cdd0013_0_56"/>
          <p:cNvSpPr txBox="1"/>
          <p:nvPr/>
        </p:nvSpPr>
        <p:spPr>
          <a:xfrm>
            <a:off x="3351475" y="984602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Individual Contribution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3785cdd0013_0_56"/>
          <p:cNvSpPr txBox="1"/>
          <p:nvPr/>
        </p:nvSpPr>
        <p:spPr>
          <a:xfrm>
            <a:off x="1828800" y="1752600"/>
            <a:ext cx="90678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</a:t>
            </a:r>
            <a:endParaRPr sz="1400" b="0" i="0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	4. Tabulate the individual contribution of the team  </a:t>
            </a:r>
            <a:endParaRPr sz="1400" b="0" i="0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 members with the following,</a:t>
            </a:r>
            <a:endParaRPr sz="1400" b="0" i="0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828800" marR="0" lvl="3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AutoNum type="alphaLcParenR"/>
            </a:pPr>
            <a:r>
              <a:rPr lang="en-US" sz="2400" b="0" i="0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Tasks/Modules assigned</a:t>
            </a:r>
            <a:endParaRPr sz="1400" b="0" i="0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3" indent="-304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828800" marR="0" lvl="3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AutoNum type="alphaLcParenR"/>
            </a:pPr>
            <a:r>
              <a:rPr lang="en-US" sz="2400" b="0" i="0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Development (no. of lines of code &amp; time spent)</a:t>
            </a:r>
            <a:endParaRPr sz="1400" b="0" i="0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3" indent="-304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828800" marR="0" lvl="3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AutoNum type="alphaLcParenR"/>
            </a:pPr>
            <a:r>
              <a:rPr lang="en-US" sz="2400" b="0" i="0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Tabulate the timeline for all the tasks/modules.</a:t>
            </a:r>
            <a:endParaRPr sz="1400" b="0" i="0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g3785cdd0013_0_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g3785cdd0013_0_56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Title of the Project</a:t>
            </a:r>
            <a:endParaRPr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785cdd0013_0_5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name1_name2_name3_name4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785cdd0013_0_65"/>
          <p:cNvSpPr txBox="1"/>
          <p:nvPr/>
        </p:nvSpPr>
        <p:spPr>
          <a:xfrm>
            <a:off x="2971800" y="984602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Demonstration and Testing of the Modules Completed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785cdd0013_0_65"/>
          <p:cNvSpPr txBox="1"/>
          <p:nvPr/>
        </p:nvSpPr>
        <p:spPr>
          <a:xfrm>
            <a:off x="1828800" y="1752600"/>
            <a:ext cx="90678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1. Demonstration and Result of modules completed.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 2. Testing for the module that is completed.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2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73" name="Google Shape;173;g3785cdd0013_0_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3785cdd0013_0_65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Title of the Project</a:t>
            </a:r>
            <a:endParaRPr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785cdd0013_0_6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name1_name2_name3_name4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785cdd0013_0_74"/>
          <p:cNvSpPr txBox="1"/>
          <p:nvPr/>
        </p:nvSpPr>
        <p:spPr>
          <a:xfrm>
            <a:off x="2971800" y="1025102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References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785cdd0013_0_74"/>
          <p:cNvSpPr txBox="1"/>
          <p:nvPr/>
        </p:nvSpPr>
        <p:spPr>
          <a:xfrm>
            <a:off x="2133601" y="1905001"/>
            <a:ext cx="88392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127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Provide references pertaining to your research according to IEEE format.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127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marR="0" lvl="0" indent="127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Example: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127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G. Eason, B. Noble, and I. N. Sneddon, “On certain integrals of Lipschitz-Hankel type involving products of Bessel functions,” Phil. Trans. Roy. Soc. London, vol. A247, pp. 529–551, April 1955. </a:t>
            </a:r>
            <a:r>
              <a:rPr lang="en-US" sz="24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(references)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82" name="Google Shape;182;g3785cdd0013_0_7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3785cdd0013_0_74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Title of the Project</a:t>
            </a:r>
            <a:endParaRPr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785cdd0013_0_7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name1_name2_name3_name4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785cdd0013_0_83"/>
          <p:cNvSpPr/>
          <p:nvPr/>
        </p:nvSpPr>
        <p:spPr>
          <a:xfrm>
            <a:off x="4842760" y="2812475"/>
            <a:ext cx="25065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Thank You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336</Words>
  <Application>Microsoft Office PowerPoint</Application>
  <PresentationFormat>Widescreen</PresentationFormat>
  <Paragraphs>87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Noto Sans Symbols</vt:lpstr>
      <vt:lpstr>Trebuchet MS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Admin</cp:lastModifiedBy>
  <cp:revision>2</cp:revision>
  <dcterms:created xsi:type="dcterms:W3CDTF">2023-02-02T07:40:50Z</dcterms:created>
  <dcterms:modified xsi:type="dcterms:W3CDTF">2026-08-17T08:47:50Z</dcterms:modified>
</cp:coreProperties>
</file>