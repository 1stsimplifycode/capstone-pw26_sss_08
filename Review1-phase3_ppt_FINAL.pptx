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jb24/3oXfEol3mrTMEca2WFcYD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5" Type="http://customschemas.google.com/relationships/presentationmetadata" Target="meta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four kinds of evidence (0.941)</c:v>
                </c:pt>
              </c:strCache>
            </c:strRef>
          </c:tx>
          <c:spPr>
            <a:ln w="22225">
              <a:solidFill>
                <a:srgbClr val="313D71"/>
              </a:solidFill>
            </a:ln>
          </c:spPr>
          <c:marker>
            <c:symbol val="none"/>
          </c:marker>
          <c:xVal>
            <c:numRef>
              <c:f>Sheet1!$A$2:$A$113</c:f>
              <c:numCache>
                <c:formatCode>General</c:formatCode>
                <c:ptCount val="112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0.9989361702127659</c:v>
                </c:pt>
                <c:pt idx="7">
                  <c:v>0.9989361702127659</c:v>
                </c:pt>
                <c:pt idx="8">
                  <c:v>0.9989361702127659</c:v>
                </c:pt>
                <c:pt idx="9">
                  <c:v>0.997872340425532</c:v>
                </c:pt>
                <c:pt idx="10">
                  <c:v>0.997872340425532</c:v>
                </c:pt>
                <c:pt idx="11">
                  <c:v>0.9968085106382979</c:v>
                </c:pt>
                <c:pt idx="12">
                  <c:v>0.9968085106382979</c:v>
                </c:pt>
                <c:pt idx="13">
                  <c:v>0.9968085106382979</c:v>
                </c:pt>
                <c:pt idx="14">
                  <c:v>0.9968085106382979</c:v>
                </c:pt>
                <c:pt idx="15">
                  <c:v>0.9968085106382979</c:v>
                </c:pt>
                <c:pt idx="16">
                  <c:v>0.9968085106382979</c:v>
                </c:pt>
                <c:pt idx="17">
                  <c:v>0.9968085106382979</c:v>
                </c:pt>
                <c:pt idx="18">
                  <c:v>0.9936170212765958</c:v>
                </c:pt>
                <c:pt idx="19">
                  <c:v>0.9925531914893617</c:v>
                </c:pt>
                <c:pt idx="20">
                  <c:v>0.9914893617021276</c:v>
                </c:pt>
                <c:pt idx="21">
                  <c:v>0.9914893617021276</c:v>
                </c:pt>
                <c:pt idx="22">
                  <c:v>0.9914893617021276</c:v>
                </c:pt>
                <c:pt idx="23">
                  <c:v>0.9904255319148936</c:v>
                </c:pt>
                <c:pt idx="24">
                  <c:v>0.9904255319148936</c:v>
                </c:pt>
                <c:pt idx="25">
                  <c:v>0.9904255319148936</c:v>
                </c:pt>
                <c:pt idx="26">
                  <c:v>0.9904255319148936</c:v>
                </c:pt>
                <c:pt idx="27">
                  <c:v>0.9904255319148936</c:v>
                </c:pt>
                <c:pt idx="28">
                  <c:v>0.9882978723404255</c:v>
                </c:pt>
                <c:pt idx="29">
                  <c:v>0.9861702127659574</c:v>
                </c:pt>
                <c:pt idx="30">
                  <c:v>0.9829787234042553</c:v>
                </c:pt>
                <c:pt idx="31">
                  <c:v>0.9819148936170212</c:v>
                </c:pt>
                <c:pt idx="32">
                  <c:v>0.9797872340425532</c:v>
                </c:pt>
                <c:pt idx="33">
                  <c:v>0.9787234042553191</c:v>
                </c:pt>
                <c:pt idx="34">
                  <c:v>0.9787234042553191</c:v>
                </c:pt>
                <c:pt idx="35">
                  <c:v>0.9787234042553191</c:v>
                </c:pt>
                <c:pt idx="36">
                  <c:v>0.9787234042553191</c:v>
                </c:pt>
                <c:pt idx="37">
                  <c:v>0.9776595744680852</c:v>
                </c:pt>
                <c:pt idx="38">
                  <c:v>0.9776595744680852</c:v>
                </c:pt>
                <c:pt idx="39">
                  <c:v>0.9765957446808511</c:v>
                </c:pt>
                <c:pt idx="40">
                  <c:v>0.9765957446808511</c:v>
                </c:pt>
                <c:pt idx="41">
                  <c:v>0.9765957446808511</c:v>
                </c:pt>
                <c:pt idx="42">
                  <c:v>0.9765957446808511</c:v>
                </c:pt>
                <c:pt idx="43">
                  <c:v>0.9765957446808511</c:v>
                </c:pt>
                <c:pt idx="44">
                  <c:v>0.975531914893617</c:v>
                </c:pt>
                <c:pt idx="45">
                  <c:v>0.975531914893617</c:v>
                </c:pt>
                <c:pt idx="46">
                  <c:v>0.975531914893617</c:v>
                </c:pt>
                <c:pt idx="47">
                  <c:v>0.975531914893617</c:v>
                </c:pt>
                <c:pt idx="48">
                  <c:v>0.9744680851063829</c:v>
                </c:pt>
                <c:pt idx="49">
                  <c:v>0.973404255319149</c:v>
                </c:pt>
                <c:pt idx="50">
                  <c:v>0.9723404255319149</c:v>
                </c:pt>
                <c:pt idx="51">
                  <c:v>0.9723404255319149</c:v>
                </c:pt>
                <c:pt idx="52">
                  <c:v>0.9702127659574468</c:v>
                </c:pt>
                <c:pt idx="53">
                  <c:v>0.9691489361702128</c:v>
                </c:pt>
                <c:pt idx="54">
                  <c:v>0.9691489361702128</c:v>
                </c:pt>
                <c:pt idx="55">
                  <c:v>0.9680851063829787</c:v>
                </c:pt>
                <c:pt idx="56">
                  <c:v>0.9670212765957447</c:v>
                </c:pt>
                <c:pt idx="57">
                  <c:v>0.9659574468085106</c:v>
                </c:pt>
                <c:pt idx="58">
                  <c:v>0.9627659574468085</c:v>
                </c:pt>
                <c:pt idx="59">
                  <c:v>0.9617021276595744</c:v>
                </c:pt>
                <c:pt idx="60">
                  <c:v>0.9595744680851064</c:v>
                </c:pt>
                <c:pt idx="61">
                  <c:v>0.9585106382978723</c:v>
                </c:pt>
                <c:pt idx="62">
                  <c:v>0.9574468085106383</c:v>
                </c:pt>
                <c:pt idx="63">
                  <c:v>0.9574468085106383</c:v>
                </c:pt>
                <c:pt idx="64">
                  <c:v>0.9563829787234043</c:v>
                </c:pt>
                <c:pt idx="65">
                  <c:v>0.9542553191489361</c:v>
                </c:pt>
                <c:pt idx="66">
                  <c:v>0.951063829787234</c:v>
                </c:pt>
                <c:pt idx="67">
                  <c:v>0.95</c:v>
                </c:pt>
                <c:pt idx="68">
                  <c:v>0.9468085106382979</c:v>
                </c:pt>
                <c:pt idx="69">
                  <c:v>0.9446808510638298</c:v>
                </c:pt>
                <c:pt idx="70">
                  <c:v>0.9436170212765957</c:v>
                </c:pt>
                <c:pt idx="71">
                  <c:v>0.9414893617021277</c:v>
                </c:pt>
                <c:pt idx="72">
                  <c:v>0.9382978723404255</c:v>
                </c:pt>
                <c:pt idx="73">
                  <c:v>0.9329787234042554</c:v>
                </c:pt>
                <c:pt idx="74">
                  <c:v>0.9319148936170213</c:v>
                </c:pt>
                <c:pt idx="75">
                  <c:v>0.9287234042553192</c:v>
                </c:pt>
                <c:pt idx="76">
                  <c:v>0.924468085106383</c:v>
                </c:pt>
                <c:pt idx="77">
                  <c:v>0.9202127659574468</c:v>
                </c:pt>
                <c:pt idx="78">
                  <c:v>0.9191489361702128</c:v>
                </c:pt>
                <c:pt idx="79">
                  <c:v>0.9170212765957447</c:v>
                </c:pt>
                <c:pt idx="80">
                  <c:v>0.9138297872340425</c:v>
                </c:pt>
                <c:pt idx="81">
                  <c:v>0.9085106382978724</c:v>
                </c:pt>
                <c:pt idx="82">
                  <c:v>0.902127659574468</c:v>
                </c:pt>
                <c:pt idx="83">
                  <c:v>0.898936170212766</c:v>
                </c:pt>
                <c:pt idx="84">
                  <c:v>0.8893617021276595</c:v>
                </c:pt>
                <c:pt idx="85">
                  <c:v>0.8765957446808511</c:v>
                </c:pt>
                <c:pt idx="86">
                  <c:v>0.85</c:v>
                </c:pt>
                <c:pt idx="87">
                  <c:v>0.8159574468085107</c:v>
                </c:pt>
                <c:pt idx="88">
                  <c:v>0.7861702127659574</c:v>
                </c:pt>
                <c:pt idx="89">
                  <c:v>0.7489361702127659</c:v>
                </c:pt>
                <c:pt idx="90">
                  <c:v>0.7159574468085106</c:v>
                </c:pt>
                <c:pt idx="91">
                  <c:v>0.6851063829787234</c:v>
                </c:pt>
                <c:pt idx="92">
                  <c:v>0.6542553191489362</c:v>
                </c:pt>
                <c:pt idx="93">
                  <c:v>0.6202127659574468</c:v>
                </c:pt>
                <c:pt idx="94">
                  <c:v>0.5914893617021276</c:v>
                </c:pt>
                <c:pt idx="95">
                  <c:v>0.5563829787234043</c:v>
                </c:pt>
                <c:pt idx="96">
                  <c:v>0.5202127659574468</c:v>
                </c:pt>
                <c:pt idx="97">
                  <c:v>0.48404255319148937</c:v>
                </c:pt>
                <c:pt idx="98">
                  <c:v>0.4478723404255319</c:v>
                </c:pt>
                <c:pt idx="99">
                  <c:v>0.41382978723404257</c:v>
                </c:pt>
                <c:pt idx="100">
                  <c:v>0.3776595744680851</c:v>
                </c:pt>
                <c:pt idx="101">
                  <c:v>0.3404255319148936</c:v>
                </c:pt>
                <c:pt idx="102">
                  <c:v>0.30319148936170215</c:v>
                </c:pt>
                <c:pt idx="103">
                  <c:v>0.26595744680851063</c:v>
                </c:pt>
                <c:pt idx="104">
                  <c:v>0.22872340425531915</c:v>
                </c:pt>
                <c:pt idx="105">
                  <c:v>0.19148936170212766</c:v>
                </c:pt>
                <c:pt idx="106">
                  <c:v>0.15425531914893617</c:v>
                </c:pt>
                <c:pt idx="107">
                  <c:v>0.11702127659574468</c:v>
                </c:pt>
                <c:pt idx="108">
                  <c:v>0.0797872340425532</c:v>
                </c:pt>
                <c:pt idx="109">
                  <c:v>0.0425531914893617</c:v>
                </c:pt>
                <c:pt idx="110">
                  <c:v>0.005319148936170213</c:v>
                </c:pt>
                <c:pt idx="111">
                  <c:v>0.0</c:v>
                </c:pt>
              </c:numCache>
            </c:numRef>
          </c:xVal>
          <c:yVal>
            <c:numRef>
              <c:f>Sheet1!$B$2:$B$113</c:f>
              <c:numCache>
                <c:formatCode>General</c:formatCode>
                <c:ptCount val="112"/>
                <c:pt idx="0">
                  <c:v>0.2438391699092088</c:v>
                </c:pt>
                <c:pt idx="1">
                  <c:v>0.24607329842931938</c:v>
                </c:pt>
                <c:pt idx="2">
                  <c:v>0.24834874504623514</c:v>
                </c:pt>
                <c:pt idx="3">
                  <c:v>0.25066666666666665</c:v>
                </c:pt>
                <c:pt idx="4">
                  <c:v>0.253028263795424</c:v>
                </c:pt>
                <c:pt idx="5">
                  <c:v>0.2554347826086957</c:v>
                </c:pt>
                <c:pt idx="6">
                  <c:v>0.25761316872427986</c:v>
                </c:pt>
                <c:pt idx="7">
                  <c:v>0.26011080332409975</c:v>
                </c:pt>
                <c:pt idx="8">
                  <c:v>0.26265734265734264</c:v>
                </c:pt>
                <c:pt idx="9">
                  <c:v>0.2649717514124294</c:v>
                </c:pt>
                <c:pt idx="10">
                  <c:v>0.2676176890156919</c:v>
                </c:pt>
                <c:pt idx="11">
                  <c:v>0.27002881844380405</c:v>
                </c:pt>
                <c:pt idx="12">
                  <c:v>0.2727802037845706</c:v>
                </c:pt>
                <c:pt idx="13">
                  <c:v>0.27558823529411763</c:v>
                </c:pt>
                <c:pt idx="14">
                  <c:v>0.2784546805349183</c:v>
                </c:pt>
                <c:pt idx="15">
                  <c:v>0.28138138138138136</c:v>
                </c:pt>
                <c:pt idx="16">
                  <c:v>0.2843702579666161</c:v>
                </c:pt>
                <c:pt idx="17">
                  <c:v>0.2874233128834356</c:v>
                </c:pt>
                <c:pt idx="18">
                  <c:v>0.2896124031007752</c:v>
                </c:pt>
                <c:pt idx="19">
                  <c:v>0.29247648902821316</c:v>
                </c:pt>
                <c:pt idx="20">
                  <c:v>0.2954041204437401</c:v>
                </c:pt>
                <c:pt idx="21">
                  <c:v>0.2987179487179487</c:v>
                </c:pt>
                <c:pt idx="22">
                  <c:v>0.3021069692058347</c:v>
                </c:pt>
                <c:pt idx="23">
                  <c:v>0.3052459016393443</c:v>
                </c:pt>
                <c:pt idx="24">
                  <c:v>0.3087893864013267</c:v>
                </c:pt>
                <c:pt idx="25">
                  <c:v>0.3124161073825503</c:v>
                </c:pt>
                <c:pt idx="26">
                  <c:v>0.3161290322580645</c:v>
                </c:pt>
                <c:pt idx="27">
                  <c:v>0.3199312714776632</c:v>
                </c:pt>
                <c:pt idx="28">
                  <c:v>0.3231304347826087</c:v>
                </c:pt>
                <c:pt idx="29">
                  <c:v>0.32640845070422536</c:v>
                </c:pt>
                <c:pt idx="30">
                  <c:v>0.32941176470588235</c:v>
                </c:pt>
                <c:pt idx="31">
                  <c:v>0.3332129963898917</c:v>
                </c:pt>
                <c:pt idx="32">
                  <c:v>0.33674588665447897</c:v>
                </c:pt>
                <c:pt idx="33">
                  <c:v>0.34074074074074073</c:v>
                </c:pt>
                <c:pt idx="34">
                  <c:v>0.3452157598499062</c:v>
                </c:pt>
                <c:pt idx="35">
                  <c:v>0.34980988593155893</c:v>
                </c:pt>
                <c:pt idx="36">
                  <c:v>0.35452793834296725</c:v>
                </c:pt>
                <c:pt idx="37">
                  <c:v>0.358984375</c:v>
                </c:pt>
                <c:pt idx="38">
                  <c:v>0.36396039603960395</c:v>
                </c:pt>
                <c:pt idx="39">
                  <c:v>0.3686746987951807</c:v>
                </c:pt>
                <c:pt idx="40">
                  <c:v>0.3739307535641548</c:v>
                </c:pt>
                <c:pt idx="41">
                  <c:v>0.3793388429752066</c:v>
                </c:pt>
                <c:pt idx="42">
                  <c:v>0.3849056603773585</c:v>
                </c:pt>
                <c:pt idx="43">
                  <c:v>0.39063829787234045</c:v>
                </c:pt>
                <c:pt idx="44">
                  <c:v>0.3961123110151188</c:v>
                </c:pt>
                <c:pt idx="45">
                  <c:v>0.4021929824561403</c:v>
                </c:pt>
                <c:pt idx="46">
                  <c:v>0.4084632516703786</c:v>
                </c:pt>
                <c:pt idx="47">
                  <c:v>0.4149321266968326</c:v>
                </c:pt>
                <c:pt idx="48">
                  <c:v>0.4211494252873563</c:v>
                </c:pt>
                <c:pt idx="49">
                  <c:v>0.42757009345794394</c:v>
                </c:pt>
                <c:pt idx="50">
                  <c:v>0.4342042755344418</c:v>
                </c:pt>
                <c:pt idx="51">
                  <c:v>0.44154589371980674</c:v>
                </c:pt>
                <c:pt idx="52">
                  <c:v>0.44815724815724817</c:v>
                </c:pt>
                <c:pt idx="53">
                  <c:v>0.4555</c:v>
                </c:pt>
                <c:pt idx="54">
                  <c:v>0.46361323155216283</c:v>
                </c:pt>
                <c:pt idx="55">
                  <c:v>0.47150259067357514</c:v>
                </c:pt>
                <c:pt idx="56">
                  <c:v>0.47968337730870714</c:v>
                </c:pt>
                <c:pt idx="57">
                  <c:v>0.4881720430107527</c:v>
                </c:pt>
                <c:pt idx="58">
                  <c:v>0.4958904109589041</c:v>
                </c:pt>
                <c:pt idx="59">
                  <c:v>0.5050279329608939</c:v>
                </c:pt>
                <c:pt idx="60">
                  <c:v>0.513960113960114</c:v>
                </c:pt>
                <c:pt idx="61">
                  <c:v>0.5238372093023256</c:v>
                </c:pt>
                <c:pt idx="62">
                  <c:v>0.5341246290801187</c:v>
                </c:pt>
                <c:pt idx="63">
                  <c:v>0.5454545454545454</c:v>
                </c:pt>
                <c:pt idx="64">
                  <c:v>0.556656346749226</c:v>
                </c:pt>
                <c:pt idx="65">
                  <c:v>0.5677215189873418</c:v>
                </c:pt>
                <c:pt idx="66">
                  <c:v>0.5786407766990291</c:v>
                </c:pt>
                <c:pt idx="67">
                  <c:v>0.5913907284768212</c:v>
                </c:pt>
                <c:pt idx="68">
                  <c:v>0.6033898305084746</c:v>
                </c:pt>
                <c:pt idx="69">
                  <c:v>0.6166666666666667</c:v>
                </c:pt>
                <c:pt idx="70">
                  <c:v>0.6313167259786477</c:v>
                </c:pt>
                <c:pt idx="71">
                  <c:v>0.6459854014598541</c:v>
                </c:pt>
                <c:pt idx="72">
                  <c:v>0.6606741573033708</c:v>
                </c:pt>
                <c:pt idx="73">
                  <c:v>0.6746153846153846</c:v>
                </c:pt>
                <c:pt idx="74">
                  <c:v>0.6924901185770751</c:v>
                </c:pt>
                <c:pt idx="75">
                  <c:v>0.7097560975609756</c:v>
                </c:pt>
                <c:pt idx="76">
                  <c:v>0.7271966527196653</c:v>
                </c:pt>
                <c:pt idx="77">
                  <c:v>0.7456896551724138</c:v>
                </c:pt>
                <c:pt idx="78">
                  <c:v>0.768</c:v>
                </c:pt>
                <c:pt idx="79">
                  <c:v>0.7908256880733945</c:v>
                </c:pt>
                <c:pt idx="80">
                  <c:v>0.814218009478673</c:v>
                </c:pt>
                <c:pt idx="81">
                  <c:v>0.8372549019607843</c:v>
                </c:pt>
                <c:pt idx="82">
                  <c:v>0.8609137055837564</c:v>
                </c:pt>
                <c:pt idx="83">
                  <c:v>0.8894736842105263</c:v>
                </c:pt>
                <c:pt idx="84">
                  <c:v>0.9136612021857924</c:v>
                </c:pt>
                <c:pt idx="85">
                  <c:v>0.9363636363636364</c:v>
                </c:pt>
                <c:pt idx="86">
                  <c:v>0.9455621301775148</c:v>
                </c:pt>
                <c:pt idx="87">
                  <c:v>0.9469135802469136</c:v>
                </c:pt>
                <c:pt idx="88">
                  <c:v>0.9535483870967741</c:v>
                </c:pt>
                <c:pt idx="89">
                  <c:v>0.9513513513513514</c:v>
                </c:pt>
                <c:pt idx="90">
                  <c:v>0.9546099290780142</c:v>
                </c:pt>
                <c:pt idx="91">
                  <c:v>0.9611940298507463</c:v>
                </c:pt>
                <c:pt idx="92">
                  <c:v>0.968503937007874</c:v>
                </c:pt>
                <c:pt idx="93">
                  <c:v>0.9716666666666667</c:v>
                </c:pt>
                <c:pt idx="94">
                  <c:v>0.984070796460177</c:v>
                </c:pt>
                <c:pt idx="95">
                  <c:v>0.9867924528301887</c:v>
                </c:pt>
                <c:pt idx="96">
                  <c:v>0.9878787878787879</c:v>
                </c:pt>
                <c:pt idx="97">
                  <c:v>0.9891304347826086</c:v>
                </c:pt>
                <c:pt idx="98">
                  <c:v>0.9905882352941177</c:v>
                </c:pt>
                <c:pt idx="99">
                  <c:v>0.9974358974358974</c:v>
                </c:pt>
                <c:pt idx="100">
                  <c:v>1.0</c:v>
                </c:pt>
                <c:pt idx="101">
                  <c:v>1.0</c:v>
                </c:pt>
                <c:pt idx="102">
                  <c:v>1.0</c:v>
                </c:pt>
                <c:pt idx="103">
                  <c:v>1.0</c:v>
                </c:pt>
                <c:pt idx="104">
                  <c:v>1.0</c:v>
                </c:pt>
                <c:pt idx="105">
                  <c:v>1.0</c:v>
                </c:pt>
                <c:pt idx="106">
                  <c:v>1.0</c:v>
                </c:pt>
                <c:pt idx="107">
                  <c:v>1.0</c:v>
                </c:pt>
                <c:pt idx="108">
                  <c:v>1.0</c:v>
                </c:pt>
                <c:pt idx="109">
                  <c:v>1.0</c:v>
                </c:pt>
                <c:pt idx="110">
                  <c:v>1.0</c:v>
                </c:pt>
                <c:pt idx="111">
                  <c:v>1.0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Sheet1!$B$115</c:f>
              <c:strCache>
                <c:ptCount val="1"/>
                <c:pt idx="0">
                  <c:v>Price &amp; activity only (0.816)</c:v>
                </c:pt>
              </c:strCache>
            </c:strRef>
          </c:tx>
          <c:spPr>
            <a:ln w="22225">
              <a:solidFill>
                <a:srgbClr val="EF7F1B"/>
              </a:solidFill>
              <a:prstDash val="dash"/>
            </a:ln>
          </c:spPr>
          <c:marker>
            <c:symbol val="none"/>
          </c:marker>
          <c:xVal>
            <c:numRef>
              <c:f>Sheet1!$A$116:$A$230</c:f>
              <c:numCache>
                <c:formatCode>General</c:formatCode>
                <c:ptCount val="115"/>
                <c:pt idx="0">
                  <c:v>1.0</c:v>
                </c:pt>
                <c:pt idx="1">
                  <c:v>0.9989361702127659</c:v>
                </c:pt>
                <c:pt idx="2">
                  <c:v>0.9989361702127659</c:v>
                </c:pt>
                <c:pt idx="3">
                  <c:v>0.9957446808510638</c:v>
                </c:pt>
                <c:pt idx="4">
                  <c:v>0.9936170212765958</c:v>
                </c:pt>
                <c:pt idx="5">
                  <c:v>0.9893617021276596</c:v>
                </c:pt>
                <c:pt idx="6">
                  <c:v>0.9819148936170212</c:v>
                </c:pt>
                <c:pt idx="7">
                  <c:v>0.9744680851063829</c:v>
                </c:pt>
                <c:pt idx="8">
                  <c:v>0.973404255319149</c:v>
                </c:pt>
                <c:pt idx="9">
                  <c:v>0.9680851063829787</c:v>
                </c:pt>
                <c:pt idx="10">
                  <c:v>0.9659574468085106</c:v>
                </c:pt>
                <c:pt idx="11">
                  <c:v>0.9521276595744681</c:v>
                </c:pt>
                <c:pt idx="12">
                  <c:v>0.95</c:v>
                </c:pt>
                <c:pt idx="13">
                  <c:v>0.9457446808510638</c:v>
                </c:pt>
                <c:pt idx="14">
                  <c:v>0.9414893617021277</c:v>
                </c:pt>
                <c:pt idx="15">
                  <c:v>0.9361702127659575</c:v>
                </c:pt>
                <c:pt idx="16">
                  <c:v>0.926595744680851</c:v>
                </c:pt>
                <c:pt idx="17">
                  <c:v>0.9223404255319149</c:v>
                </c:pt>
                <c:pt idx="18">
                  <c:v>0.9085106382978724</c:v>
                </c:pt>
                <c:pt idx="19">
                  <c:v>0.8978723404255319</c:v>
                </c:pt>
                <c:pt idx="20">
                  <c:v>0.8893617021276595</c:v>
                </c:pt>
                <c:pt idx="21">
                  <c:v>0.8829787234042553</c:v>
                </c:pt>
                <c:pt idx="22">
                  <c:v>0.8819148936170212</c:v>
                </c:pt>
                <c:pt idx="23">
                  <c:v>0.8797872340425532</c:v>
                </c:pt>
                <c:pt idx="24">
                  <c:v>0.8521276595744681</c:v>
                </c:pt>
                <c:pt idx="25">
                  <c:v>0.8489361702127659</c:v>
                </c:pt>
                <c:pt idx="26">
                  <c:v>0.847872340425532</c:v>
                </c:pt>
                <c:pt idx="27">
                  <c:v>0.8468085106382979</c:v>
                </c:pt>
                <c:pt idx="28">
                  <c:v>0.8425531914893617</c:v>
                </c:pt>
                <c:pt idx="29">
                  <c:v>0.8361702127659575</c:v>
                </c:pt>
                <c:pt idx="30">
                  <c:v>0.8340425531914893</c:v>
                </c:pt>
                <c:pt idx="31">
                  <c:v>0.823404255319149</c:v>
                </c:pt>
                <c:pt idx="32">
                  <c:v>0.8202127659574469</c:v>
                </c:pt>
                <c:pt idx="33">
                  <c:v>0.8159574468085107</c:v>
                </c:pt>
                <c:pt idx="34">
                  <c:v>0.8106382978723404</c:v>
                </c:pt>
                <c:pt idx="35">
                  <c:v>0.8095744680851064</c:v>
                </c:pt>
                <c:pt idx="36">
                  <c:v>0.8031914893617021</c:v>
                </c:pt>
                <c:pt idx="37">
                  <c:v>0.7936170212765957</c:v>
                </c:pt>
                <c:pt idx="38">
                  <c:v>0.7936170212765957</c:v>
                </c:pt>
                <c:pt idx="39">
                  <c:v>0.7904255319148936</c:v>
                </c:pt>
                <c:pt idx="40">
                  <c:v>0.7851063829787234</c:v>
                </c:pt>
                <c:pt idx="41">
                  <c:v>0.7808510638297872</c:v>
                </c:pt>
                <c:pt idx="42">
                  <c:v>0.776595744680851</c:v>
                </c:pt>
                <c:pt idx="43">
                  <c:v>0.774468085106383</c:v>
                </c:pt>
                <c:pt idx="44">
                  <c:v>0.7723404255319148</c:v>
                </c:pt>
                <c:pt idx="45">
                  <c:v>0.7723404255319148</c:v>
                </c:pt>
                <c:pt idx="46">
                  <c:v>0.7680851063829788</c:v>
                </c:pt>
                <c:pt idx="47">
                  <c:v>0.7617021276595745</c:v>
                </c:pt>
                <c:pt idx="48">
                  <c:v>0.7595744680851064</c:v>
                </c:pt>
                <c:pt idx="49">
                  <c:v>0.7595744680851064</c:v>
                </c:pt>
                <c:pt idx="50">
                  <c:v>0.7563829787234042</c:v>
                </c:pt>
                <c:pt idx="51">
                  <c:v>0.7531914893617021</c:v>
                </c:pt>
                <c:pt idx="52">
                  <c:v>0.7510638297872341</c:v>
                </c:pt>
                <c:pt idx="53">
                  <c:v>0.7489361702127659</c:v>
                </c:pt>
                <c:pt idx="54">
                  <c:v>0.7436170212765958</c:v>
                </c:pt>
                <c:pt idx="55">
                  <c:v>0.7414893617021276</c:v>
                </c:pt>
                <c:pt idx="56">
                  <c:v>0.7404255319148936</c:v>
                </c:pt>
                <c:pt idx="57">
                  <c:v>0.7372340425531915</c:v>
                </c:pt>
                <c:pt idx="58">
                  <c:v>0.7340425531914894</c:v>
                </c:pt>
                <c:pt idx="59">
                  <c:v>0.7319148936170212</c:v>
                </c:pt>
                <c:pt idx="60">
                  <c:v>0.725531914893617</c:v>
                </c:pt>
                <c:pt idx="61">
                  <c:v>0.7212765957446808</c:v>
                </c:pt>
                <c:pt idx="62">
                  <c:v>0.7159574468085106</c:v>
                </c:pt>
                <c:pt idx="63">
                  <c:v>0.7106382978723405</c:v>
                </c:pt>
                <c:pt idx="64">
                  <c:v>0.7021276595744681</c:v>
                </c:pt>
                <c:pt idx="65">
                  <c:v>0.6978723404255319</c:v>
                </c:pt>
                <c:pt idx="66">
                  <c:v>0.6957446808510638</c:v>
                </c:pt>
                <c:pt idx="67">
                  <c:v>0.6946808510638298</c:v>
                </c:pt>
                <c:pt idx="68">
                  <c:v>0.6925531914893617</c:v>
                </c:pt>
                <c:pt idx="69">
                  <c:v>0.6882978723404255</c:v>
                </c:pt>
                <c:pt idx="70">
                  <c:v>0.6840425531914893</c:v>
                </c:pt>
                <c:pt idx="71">
                  <c:v>0.6829787234042554</c:v>
                </c:pt>
                <c:pt idx="72">
                  <c:v>0.6797872340425531</c:v>
                </c:pt>
                <c:pt idx="73">
                  <c:v>0.675531914893617</c:v>
                </c:pt>
                <c:pt idx="74">
                  <c:v>0.6712765957446809</c:v>
                </c:pt>
                <c:pt idx="75">
                  <c:v>0.6670212765957447</c:v>
                </c:pt>
                <c:pt idx="76">
                  <c:v>0.6670212765957447</c:v>
                </c:pt>
                <c:pt idx="77">
                  <c:v>0.6627659574468086</c:v>
                </c:pt>
                <c:pt idx="78">
                  <c:v>0.6595744680851063</c:v>
                </c:pt>
                <c:pt idx="79">
                  <c:v>0.652127659574468</c:v>
                </c:pt>
                <c:pt idx="80">
                  <c:v>0.6478723404255319</c:v>
                </c:pt>
                <c:pt idx="81">
                  <c:v>0.6393617021276595</c:v>
                </c:pt>
                <c:pt idx="82">
                  <c:v>0.6340425531914894</c:v>
                </c:pt>
                <c:pt idx="83">
                  <c:v>0.6308510638297873</c:v>
                </c:pt>
                <c:pt idx="84">
                  <c:v>0.625531914893617</c:v>
                </c:pt>
                <c:pt idx="85">
                  <c:v>0.6212765957446809</c:v>
                </c:pt>
                <c:pt idx="86">
                  <c:v>0.6159574468085106</c:v>
                </c:pt>
                <c:pt idx="87">
                  <c:v>0.6095744680851064</c:v>
                </c:pt>
                <c:pt idx="88">
                  <c:v>0.6063829787234043</c:v>
                </c:pt>
                <c:pt idx="89">
                  <c:v>0.6</c:v>
                </c:pt>
                <c:pt idx="90">
                  <c:v>0.5946808510638298</c:v>
                </c:pt>
                <c:pt idx="91">
                  <c:v>0.5882978723404255</c:v>
                </c:pt>
                <c:pt idx="92">
                  <c:v>0.5808510638297872</c:v>
                </c:pt>
                <c:pt idx="93">
                  <c:v>0.575531914893617</c:v>
                </c:pt>
                <c:pt idx="94">
                  <c:v>0.5702127659574469</c:v>
                </c:pt>
                <c:pt idx="95">
                  <c:v>0.5638297872340425</c:v>
                </c:pt>
                <c:pt idx="96">
                  <c:v>0.5521276595744681</c:v>
                </c:pt>
                <c:pt idx="97">
                  <c:v>0.5425531914893617</c:v>
                </c:pt>
                <c:pt idx="98">
                  <c:v>0.5351063829787234</c:v>
                </c:pt>
                <c:pt idx="99">
                  <c:v>0.5255319148936171</c:v>
                </c:pt>
                <c:pt idx="100">
                  <c:v>0.5159574468085106</c:v>
                </c:pt>
                <c:pt idx="101">
                  <c:v>0.5063829787234042</c:v>
                </c:pt>
                <c:pt idx="102">
                  <c:v>0.4968085106382979</c:v>
                </c:pt>
                <c:pt idx="103">
                  <c:v>0.4851063829787234</c:v>
                </c:pt>
                <c:pt idx="104">
                  <c:v>0.4734042553191489</c:v>
                </c:pt>
                <c:pt idx="105">
                  <c:v>0.46170212765957447</c:v>
                </c:pt>
                <c:pt idx="106">
                  <c:v>0.4425531914893617</c:v>
                </c:pt>
                <c:pt idx="107">
                  <c:v>0.42340425531914894</c:v>
                </c:pt>
                <c:pt idx="108">
                  <c:v>0.40106382978723404</c:v>
                </c:pt>
                <c:pt idx="109">
                  <c:v>0.3797872340425532</c:v>
                </c:pt>
                <c:pt idx="110">
                  <c:v>0.3553191489361702</c:v>
                </c:pt>
                <c:pt idx="111">
                  <c:v>0.33191489361702126</c:v>
                </c:pt>
                <c:pt idx="112">
                  <c:v>0.2957446808510638</c:v>
                </c:pt>
                <c:pt idx="113">
                  <c:v>0.24361702127659574</c:v>
                </c:pt>
                <c:pt idx="114">
                  <c:v>0.0</c:v>
                </c:pt>
              </c:numCache>
            </c:numRef>
          </c:xVal>
          <c:yVal>
            <c:numRef>
              <c:f>Sheet1!$B$116:$B$230</c:f>
              <c:numCache>
                <c:formatCode>General</c:formatCode>
                <c:ptCount val="115"/>
                <c:pt idx="0">
                  <c:v>0.2438391699092088</c:v>
                </c:pt>
                <c:pt idx="1">
                  <c:v>0.24645669291338582</c:v>
                </c:pt>
                <c:pt idx="2">
                  <c:v>0.24821570182394925</c:v>
                </c:pt>
                <c:pt idx="3">
                  <c:v>0.252972972972973</c:v>
                </c:pt>
                <c:pt idx="4">
                  <c:v>0.25498225498225496</c:v>
                </c:pt>
                <c:pt idx="5">
                  <c:v>0.25683512841756423</c:v>
                </c:pt>
                <c:pt idx="6">
                  <c:v>0.25767727526521494</c:v>
                </c:pt>
                <c:pt idx="7">
                  <c:v>0.2621637092157985</c:v>
                </c:pt>
                <c:pt idx="8">
                  <c:v>0.2639930755914599</c:v>
                </c:pt>
                <c:pt idx="9">
                  <c:v>0.26891252955082745</c:v>
                </c:pt>
                <c:pt idx="10">
                  <c:v>0.27365883062085594</c:v>
                </c:pt>
                <c:pt idx="11">
                  <c:v>0.2810929648241206</c:v>
                </c:pt>
                <c:pt idx="12">
                  <c:v>0.2851213282247765</c:v>
                </c:pt>
                <c:pt idx="13">
                  <c:v>0.2915710068875041</c:v>
                </c:pt>
                <c:pt idx="14">
                  <c:v>0.3050672182006205</c:v>
                </c:pt>
                <c:pt idx="15">
                  <c:v>0.31451036454610437</c:v>
                </c:pt>
                <c:pt idx="16">
                  <c:v>0.32391223503161026</c:v>
                </c:pt>
                <c:pt idx="17">
                  <c:v>0.33192955589586526</c:v>
                </c:pt>
                <c:pt idx="18">
                  <c:v>0.3475783475783476</c:v>
                </c:pt>
                <c:pt idx="19">
                  <c:v>0.352695361470957</c:v>
                </c:pt>
                <c:pt idx="20">
                  <c:v>0.3612791702679343</c:v>
                </c:pt>
                <c:pt idx="21">
                  <c:v>0.3662842012356575</c:v>
                </c:pt>
                <c:pt idx="22">
                  <c:v>0.3730873087308731</c:v>
                </c:pt>
                <c:pt idx="23">
                  <c:v>0.37693710118505014</c:v>
                </c:pt>
                <c:pt idx="24">
                  <c:v>0.413312693498452</c:v>
                </c:pt>
                <c:pt idx="25">
                  <c:v>0.4188976377952756</c:v>
                </c:pt>
                <c:pt idx="26">
                  <c:v>0.4266595289079229</c:v>
                </c:pt>
                <c:pt idx="27">
                  <c:v>0.42934196332254587</c:v>
                </c:pt>
                <c:pt idx="28">
                  <c:v>0.4342105263157895</c:v>
                </c:pt>
                <c:pt idx="29">
                  <c:v>0.44991413852318257</c:v>
                </c:pt>
                <c:pt idx="30">
                  <c:v>0.4614479105356092</c:v>
                </c:pt>
                <c:pt idx="31">
                  <c:v>0.48465873512836566</c:v>
                </c:pt>
                <c:pt idx="32">
                  <c:v>0.5026075619295959</c:v>
                </c:pt>
                <c:pt idx="33">
                  <c:v>0.5076108537392455</c:v>
                </c:pt>
                <c:pt idx="34">
                  <c:v>0.5155615696887687</c:v>
                </c:pt>
                <c:pt idx="35">
                  <c:v>0.5259156876295784</c:v>
                </c:pt>
                <c:pt idx="36">
                  <c:v>0.5366027007818053</c:v>
                </c:pt>
                <c:pt idx="37">
                  <c:v>0.5621703089675961</c:v>
                </c:pt>
                <c:pt idx="38">
                  <c:v>0.5677321156773212</c:v>
                </c:pt>
                <c:pt idx="39">
                  <c:v>0.5764158262218774</c:v>
                </c:pt>
                <c:pt idx="40">
                  <c:v>0.5843230403800475</c:v>
                </c:pt>
                <c:pt idx="41">
                  <c:v>0.5957792207792207</c:v>
                </c:pt>
                <c:pt idx="42">
                  <c:v>0.6093489148580968</c:v>
                </c:pt>
                <c:pt idx="43">
                  <c:v>0.6138279932546374</c:v>
                </c:pt>
                <c:pt idx="44">
                  <c:v>0.6199829205807003</c:v>
                </c:pt>
                <c:pt idx="45">
                  <c:v>0.629661751951431</c:v>
                </c:pt>
                <c:pt idx="46">
                  <c:v>0.6406388642413487</c:v>
                </c:pt>
                <c:pt idx="47">
                  <c:v>0.6467931345980127</c:v>
                </c:pt>
                <c:pt idx="48">
                  <c:v>0.6520547945205479</c:v>
                </c:pt>
                <c:pt idx="49">
                  <c:v>0.6592797783933518</c:v>
                </c:pt>
                <c:pt idx="50">
                  <c:v>0.6663542642924086</c:v>
                </c:pt>
                <c:pt idx="51">
                  <c:v>0.6704545454545454</c:v>
                </c:pt>
                <c:pt idx="52">
                  <c:v>0.6781940441882806</c:v>
                </c:pt>
                <c:pt idx="53">
                  <c:v>0.6828322017458778</c:v>
                </c:pt>
                <c:pt idx="54">
                  <c:v>0.6866404715127702</c:v>
                </c:pt>
                <c:pt idx="55">
                  <c:v>0.6928429423459245</c:v>
                </c:pt>
                <c:pt idx="56">
                  <c:v>0.7023208879919274</c:v>
                </c:pt>
                <c:pt idx="57">
                  <c:v>0.7093142272262026</c:v>
                </c:pt>
                <c:pt idx="58">
                  <c:v>0.7150259067357513</c:v>
                </c:pt>
                <c:pt idx="59">
                  <c:v>0.7249736564805058</c:v>
                </c:pt>
                <c:pt idx="60">
                  <c:v>0.7263045793397231</c:v>
                </c:pt>
                <c:pt idx="61">
                  <c:v>0.7306034482758621</c:v>
                </c:pt>
                <c:pt idx="62">
                  <c:v>0.7323177366702938</c:v>
                </c:pt>
                <c:pt idx="63">
                  <c:v>0.7381215469613259</c:v>
                </c:pt>
                <c:pt idx="64">
                  <c:v>0.738255033557047</c:v>
                </c:pt>
                <c:pt idx="65">
                  <c:v>0.7420814479638009</c:v>
                </c:pt>
                <c:pt idx="66">
                  <c:v>0.75</c:v>
                </c:pt>
                <c:pt idx="67">
                  <c:v>0.7566628041714948</c:v>
                </c:pt>
                <c:pt idx="68">
                  <c:v>0.7622950819672131</c:v>
                </c:pt>
                <c:pt idx="69">
                  <c:v>0.767497034400949</c:v>
                </c:pt>
                <c:pt idx="70">
                  <c:v>0.7728365384615384</c:v>
                </c:pt>
                <c:pt idx="71">
                  <c:v>0.781973203410475</c:v>
                </c:pt>
                <c:pt idx="72">
                  <c:v>0.7869458128078818</c:v>
                </c:pt>
                <c:pt idx="73">
                  <c:v>0.7927590511860175</c:v>
                </c:pt>
                <c:pt idx="74">
                  <c:v>0.7987341772151899</c:v>
                </c:pt>
                <c:pt idx="75">
                  <c:v>0.8038461538461539</c:v>
                </c:pt>
                <c:pt idx="76">
                  <c:v>0.8153446033810143</c:v>
                </c:pt>
                <c:pt idx="77">
                  <c:v>0.8229854689564069</c:v>
                </c:pt>
                <c:pt idx="78">
                  <c:v>0.8299866131191432</c:v>
                </c:pt>
                <c:pt idx="79">
                  <c:v>0.8351498637602179</c:v>
                </c:pt>
                <c:pt idx="80">
                  <c:v>0.8458333333333333</c:v>
                </c:pt>
                <c:pt idx="81">
                  <c:v>0.8549075391180654</c:v>
                </c:pt>
                <c:pt idx="82">
                  <c:v>0.861271676300578</c:v>
                </c:pt>
                <c:pt idx="83">
                  <c:v>0.8695014662756598</c:v>
                </c:pt>
                <c:pt idx="84">
                  <c:v>0.8763040238450075</c:v>
                </c:pt>
                <c:pt idx="85">
                  <c:v>0.8861911987860395</c:v>
                </c:pt>
                <c:pt idx="86">
                  <c:v>0.8935185185185185</c:v>
                </c:pt>
                <c:pt idx="87">
                  <c:v>0.9009433962264151</c:v>
                </c:pt>
                <c:pt idx="88">
                  <c:v>0.9090909090909091</c:v>
                </c:pt>
                <c:pt idx="89">
                  <c:v>0.912621359223301</c:v>
                </c:pt>
                <c:pt idx="90">
                  <c:v>0.9178981937602627</c:v>
                </c:pt>
                <c:pt idx="91">
                  <c:v>0.9232053422370617</c:v>
                </c:pt>
                <c:pt idx="92">
                  <c:v>0.9285714285714286</c:v>
                </c:pt>
                <c:pt idx="93">
                  <c:v>0.9376083188908145</c:v>
                </c:pt>
                <c:pt idx="94">
                  <c:v>0.9436619718309859</c:v>
                </c:pt>
                <c:pt idx="95">
                  <c:v>0.9481216457960644</c:v>
                </c:pt>
                <c:pt idx="96">
                  <c:v>0.9505494505494505</c:v>
                </c:pt>
                <c:pt idx="97">
                  <c:v>0.9514925373134329</c:v>
                </c:pt>
                <c:pt idx="98">
                  <c:v>0.9562737642585551</c:v>
                </c:pt>
                <c:pt idx="99">
                  <c:v>0.9592233009708738</c:v>
                </c:pt>
                <c:pt idx="100">
                  <c:v>0.9623015873015873</c:v>
                </c:pt>
                <c:pt idx="101">
                  <c:v>0.9655172413793104</c:v>
                </c:pt>
                <c:pt idx="102">
                  <c:v>0.9729166666666667</c:v>
                </c:pt>
                <c:pt idx="103">
                  <c:v>0.9785407725321889</c:v>
                </c:pt>
                <c:pt idx="104">
                  <c:v>0.9801762114537445</c:v>
                </c:pt>
                <c:pt idx="105">
                  <c:v>0.9841269841269841</c:v>
                </c:pt>
                <c:pt idx="106">
                  <c:v>0.9881235154394299</c:v>
                </c:pt>
                <c:pt idx="107">
                  <c:v>0.995</c:v>
                </c:pt>
                <c:pt idx="108">
                  <c:v>1.0</c:v>
                </c:pt>
                <c:pt idx="109">
                  <c:v>1.0</c:v>
                </c:pt>
                <c:pt idx="110">
                  <c:v>1.0</c:v>
                </c:pt>
                <c:pt idx="111">
                  <c:v>1.0</c:v>
                </c:pt>
                <c:pt idx="112">
                  <c:v>1.0</c:v>
                </c:pt>
                <c:pt idx="113">
                  <c:v>1.0</c:v>
                </c:pt>
                <c:pt idx="114">
                  <c:v>1.0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Sheet1!$B$232</c:f>
              <c:strCache>
                <c:ptCount val="1"/>
                <c:pt idx="0">
                  <c:v>Random guessing (0.244)</c:v>
                </c:pt>
              </c:strCache>
            </c:strRef>
          </c:tx>
          <c:spPr>
            <a:ln w="22225">
              <a:solidFill>
                <a:srgbClr val="9AA1B4"/>
              </a:solidFill>
              <a:prstDash val="sysDot"/>
            </a:ln>
          </c:spPr>
          <c:marker>
            <c:symbol val="none"/>
          </c:marker>
          <c:xVal>
            <c:numRef>
              <c:f>Sheet1!$A$233:$A$234</c:f>
              <c:numCache>
                <c:formatCode>General</c:formatCode>
                <c:ptCount val="2"/>
                <c:pt idx="0">
                  <c:v>0.0</c:v>
                </c:pt>
                <c:pt idx="1">
                  <c:v>1.0</c:v>
                </c:pt>
              </c:numCache>
            </c:numRef>
          </c:xVal>
          <c:yVal>
            <c:numRef>
              <c:f>Sheet1!$B$233:$B$234</c:f>
              <c:numCache>
                <c:formatCode>General</c:formatCode>
                <c:ptCount val="2"/>
                <c:pt idx="0">
                  <c:v>0.2438391699092088</c:v>
                </c:pt>
                <c:pt idx="1">
                  <c:v>0.2438391699092088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.0"/>
          <c:min val="0.0"/>
        </c:scaling>
        <c:delete val="0"/>
        <c:axPos val="b"/>
        <c:majorGridlines>
          <c:spPr>
            <a:ln w="6350">
              <a:solidFill>
                <a:srgbClr val="E4E7E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solidFill>
              <a:srgbClr val="C9CED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29643912"/>
        <c:crosses val="autoZero"/>
        <c:crossBetween val="midCat"/>
        <c:majorUnit val="0.25"/>
      </c:valAx>
      <c:valAx>
        <c:axId val="-2129643912"/>
        <c:scaling>
          <c:orientation val="minMax"/>
          <c:max val="1.0"/>
          <c:min val="0.0"/>
        </c:scaling>
        <c:delete val="0"/>
        <c:axPos val="l"/>
        <c:majorGridlines>
          <c:spPr>
            <a:ln w="6350">
              <a:solidFill>
                <a:srgbClr val="E4E7E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solidFill>
              <a:srgbClr val="C9CED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28940872"/>
        <c:crosses val="autoZero"/>
        <c:crossBetween val="midCat"/>
        <c:majorUnit val="0.25"/>
      </c:valAx>
    </c:plotArea>
    <c:legend>
      <c:legendPos val="b"/>
      <c:layout/>
      <c:overlay val="0"/>
      <c:txPr>
        <a:bodyPr/>
        <a:lstStyle/>
        <a:p>
          <a:pPr>
            <a:defRPr sz="680"/>
          </a:pPr>
        </a:p>
      </c:txPr>
    </c:legend>
    <c:plotVisOnly val="1"/>
    <c:dispBlanksAs val="gap"/>
    <c:showDLblsOverMax val="0"/>
  </c:chart>
  <c:txPr>
    <a:bodyPr/>
    <a:lstStyle/>
    <a:p>
      <a:pPr>
        <a:defRPr sz="720">
          <a:solidFill>
            <a:srgbClr val="5C6478"/>
          </a:solidFill>
          <a:latin typeface="Trebuchet M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Hit the price limit</c:v>
                </c:pt>
              </c:strCache>
            </c:strRef>
          </c:tx>
          <c:spPr>
            <a:solidFill>
              <a:srgbClr val="EF7F1B"/>
            </a:solidFill>
          </c:spPr>
          <c:dPt>
            <c:idx val="0"/>
            <c:spPr>
              <a:solidFill>
                <a:srgbClr val="B9C0D0"/>
              </a:solidFill>
            </c:spPr>
          </c:dPt>
          <c:cat>
            <c:strRef>
              <c:f>Sheet1!$A$2:$A$3</c:f>
              <c:strCache>
                <c:ptCount val="2"/>
                <c:pt idx="0">
                  <c:v>Ordinary sessions</c:v>
                </c:pt>
                <c:pt idx="1">
                  <c:v>Sessions the system flagged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2.89</c:v>
                </c:pt>
                <c:pt idx="1">
                  <c:v>7.14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800" b="1">
                  <a:solidFill>
                    <a:srgbClr val="313D71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9CEDC"/>
            </a:solidFill>
          </a:ln>
        </c:spPr>
        <c:txPr>
          <a:bodyPr/>
          <a:lstStyle/>
          <a:p>
            <a:pPr>
              <a:defRPr sz="74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6"/>
          <c:min val="0.0"/>
        </c:scaling>
        <c:delete/>
        <c:axPos val="l"/>
        <c:majorGridlines>
          <c:spPr>
            <a:ln w="6350">
              <a:solidFill>
                <a:srgbClr val="E4E7EF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C9CED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720">
          <a:solidFill>
            <a:srgbClr val="5C6478"/>
          </a:solidFill>
          <a:latin typeface="Trebuchet M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85cdd00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785cdd001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g3785cdd0013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  <p:sp>
        <p:nvSpPr>
          <p:cNvPr id="105" name="Google Shape;105;g3785cdd001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85cdd001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785cdd0013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3785cdd0013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85cdd001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785cdd0013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785cdd0013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85cdd0013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3785cdd0013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85cdd0013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3785cdd0013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85cdd0013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3785cdd0013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85cdd0013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g3785cdd001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85cdd0013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3785cdd0013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85cdd0013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3785cdd001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85cdd0013_0_0"/>
          <p:cNvSpPr/>
          <p:nvPr/>
        </p:nvSpPr>
        <p:spPr>
          <a:xfrm>
            <a:off x="2387991" y="990600"/>
            <a:ext cx="79248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2800"/>
            </a:pP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UE23CS441A  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–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 Project Phase – </a:t>
            </a: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28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</a:t>
            </a:r>
            <a:r>
              <a:rPr lang="en-US" sz="2800" b="0" i="0" u="none" strike="noStrike" cap="none" dirty="0" smtClean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Review </a:t>
            </a:r>
            <a:r>
              <a:rPr lang="en-US" sz="28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# 1</a:t>
            </a:r>
            <a:endParaRPr sz="2800" b="0" i="0" u="none" strike="noStrike" cap="none" dirty="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8" name="Google Shape;108;g3785cdd0013_0_0"/>
          <p:cNvSpPr txBox="1"/>
          <p:nvPr/>
        </p:nvSpPr>
        <p:spPr>
          <a:xfrm>
            <a:off x="1005840" y="4419601"/>
            <a:ext cx="10149840" cy="13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Detecting Market Manipulation Using Multi-Source Signals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     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endParaRPr sz="20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9" name="Google Shape;109;g3785cdd001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85cdd0013_0_18"/>
          <p:cNvSpPr txBox="1"/>
          <p:nvPr/>
        </p:nvSpPr>
        <p:spPr>
          <a:xfrm>
            <a:off x="4191000" y="102510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 of the Project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785cdd0013_0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785cdd0013_0_18"/>
          <p:cNvSpPr txBox="1"/>
          <p:nvPr/>
        </p:nvSpPr>
        <p:spPr>
          <a:xfrm>
            <a:off x="76201" y="63110"/>
            <a:ext cx="576072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Market Manipulation Using Multi-Source Signals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785cdd0013_0_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929944" y="1490472"/>
            <a:ext cx="11155680" cy="2011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B1F2E"/>
                </a:solidFill>
                <a:latin typeface="Trebuchet MS"/>
              </a:rPr>
              <a:t>Share prices and trading activity can move suddenly — sometimes for genuine reasons, sometimes driven by information and hype.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29944" y="1700784"/>
            <a:ext cx="11155680" cy="2011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B1F2E"/>
                </a:solidFill>
                <a:latin typeface="Trebuchet MS"/>
              </a:rPr>
              <a:t>This project combines several kinds of signal to find unusual activity. This review demonstrates the numerical part only.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81888" y="2066543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478"/>
                </a:solidFill>
                <a:latin typeface="Trebuchet MS"/>
              </a:rPr>
              <a:t>WHAT THE NUMBERS PART DOES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81888" y="2322576"/>
            <a:ext cx="1997049" cy="13716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 w="1778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600760" y="2459736"/>
            <a:ext cx="274320" cy="274320"/>
          </a:xfrm>
          <a:prstGeom prst="ellipse">
            <a:avLst/>
          </a:prstGeom>
          <a:solidFill>
            <a:srgbClr val="31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00760" y="2514600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57376" y="2478024"/>
            <a:ext cx="144840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60" b="1" i="0">
                <a:solidFill>
                  <a:srgbClr val="313D71"/>
                </a:solidFill>
                <a:latin typeface="Trebuchet MS"/>
              </a:rPr>
              <a:t>Stock numbers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28192" y="2926080"/>
            <a:ext cx="1741017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Trebuchet MS"/>
              </a:rPr>
              <a:t>Every day, for every share: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Trebuchet MS"/>
              </a:rPr>
              <a:t>the price and how much was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Trebuchet MS"/>
              </a:rPr>
              <a:t>traded</a:t>
            </a:r>
          </a:p>
        </p:txBody>
      </p:sp>
      <p:sp>
        <p:nvSpPr>
          <p:cNvPr id="138" name="Right Arrow 137"/>
          <p:cNvSpPr/>
          <p:nvPr/>
        </p:nvSpPr>
        <p:spPr>
          <a:xfrm>
            <a:off x="2542946" y="2939796"/>
            <a:ext cx="182880" cy="137160"/>
          </a:xfrm>
          <a:prstGeom prst="rightArrow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2789834" y="2322576"/>
            <a:ext cx="1997049" cy="13716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 w="1778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2908706" y="2459736"/>
            <a:ext cx="274320" cy="274320"/>
          </a:xfrm>
          <a:prstGeom prst="ellipse">
            <a:avLst/>
          </a:prstGeom>
          <a:solidFill>
            <a:srgbClr val="31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908706" y="2514600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265322" y="2478024"/>
            <a:ext cx="144840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60" b="1" i="0">
                <a:solidFill>
                  <a:srgbClr val="313D71"/>
                </a:solidFill>
                <a:latin typeface="Trebuchet MS"/>
              </a:rPr>
              <a:t>Learn what is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60" b="1" i="0">
                <a:solidFill>
                  <a:srgbClr val="313D71"/>
                </a:solidFill>
                <a:latin typeface="Trebuchet MS"/>
              </a:rPr>
              <a:t>normal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936138" y="2926080"/>
            <a:ext cx="1741017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Trebuchet MS"/>
              </a:rPr>
              <a:t>The system learns each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Trebuchet MS"/>
              </a:rPr>
              <a:t>share's usual pattern from its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Trebuchet MS"/>
              </a:rPr>
              <a:t>own history</a:t>
            </a:r>
          </a:p>
        </p:txBody>
      </p:sp>
      <p:sp>
        <p:nvSpPr>
          <p:cNvPr id="144" name="Right Arrow 143"/>
          <p:cNvSpPr/>
          <p:nvPr/>
        </p:nvSpPr>
        <p:spPr>
          <a:xfrm>
            <a:off x="4850892" y="2939796"/>
            <a:ext cx="182880" cy="137160"/>
          </a:xfrm>
          <a:prstGeom prst="rightArrow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5097780" y="2322576"/>
            <a:ext cx="1997049" cy="13716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 w="1778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5216652" y="2459736"/>
            <a:ext cx="274320" cy="274320"/>
          </a:xfrm>
          <a:prstGeom prst="ellipse">
            <a:avLst/>
          </a:prstGeom>
          <a:solidFill>
            <a:srgbClr val="31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216652" y="2514600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573268" y="2478024"/>
            <a:ext cx="144840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60" b="1" i="0">
                <a:solidFill>
                  <a:srgbClr val="313D71"/>
                </a:solidFill>
                <a:latin typeface="Trebuchet MS"/>
              </a:rPr>
              <a:t>Find unusual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60" b="1" i="0">
                <a:solidFill>
                  <a:srgbClr val="313D71"/>
                </a:solidFill>
                <a:latin typeface="Trebuchet MS"/>
              </a:rPr>
              <a:t>changes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244084" y="2926080"/>
            <a:ext cx="1741017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Trebuchet MS"/>
              </a:rPr>
              <a:t>Days that break that pattern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Trebuchet MS"/>
              </a:rPr>
              <a:t>get picked out automatically</a:t>
            </a:r>
          </a:p>
        </p:txBody>
      </p:sp>
      <p:sp>
        <p:nvSpPr>
          <p:cNvPr id="150" name="Right Arrow 149"/>
          <p:cNvSpPr/>
          <p:nvPr/>
        </p:nvSpPr>
        <p:spPr>
          <a:xfrm>
            <a:off x="7158837" y="2939796"/>
            <a:ext cx="182880" cy="137160"/>
          </a:xfrm>
          <a:prstGeom prst="rightArrow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7405725" y="2322576"/>
            <a:ext cx="1997049" cy="13716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 w="1778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7524597" y="2459736"/>
            <a:ext cx="274320" cy="274320"/>
          </a:xfrm>
          <a:prstGeom prst="ellipse">
            <a:avLst/>
          </a:prstGeom>
          <a:solidFill>
            <a:srgbClr val="31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24597" y="2514600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881213" y="2478024"/>
            <a:ext cx="144840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60" b="1" i="0">
                <a:solidFill>
                  <a:srgbClr val="313D71"/>
                </a:solidFill>
                <a:latin typeface="Trebuchet MS"/>
              </a:rPr>
              <a:t>Measure how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60" b="1" i="0">
                <a:solidFill>
                  <a:srgbClr val="313D71"/>
                </a:solidFill>
                <a:latin typeface="Trebuchet MS"/>
              </a:rPr>
              <a:t>unusual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552029" y="2926080"/>
            <a:ext cx="1741017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Trebuchet MS"/>
              </a:rPr>
              <a:t>Each day gets a score, plus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Trebuchet MS"/>
              </a:rPr>
              <a:t>how confident the system is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Trebuchet MS"/>
              </a:rPr>
              <a:t>in it</a:t>
            </a:r>
          </a:p>
        </p:txBody>
      </p:sp>
      <p:sp>
        <p:nvSpPr>
          <p:cNvPr id="156" name="Right Arrow 155"/>
          <p:cNvSpPr/>
          <p:nvPr/>
        </p:nvSpPr>
        <p:spPr>
          <a:xfrm>
            <a:off x="9466783" y="2939796"/>
            <a:ext cx="182880" cy="137160"/>
          </a:xfrm>
          <a:prstGeom prst="rightArrow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9713671" y="2322576"/>
            <a:ext cx="1997049" cy="1371600"/>
          </a:xfrm>
          <a:prstGeom prst="roundRect">
            <a:avLst>
              <a:gd name="adj" fmla="val 6000"/>
            </a:avLst>
          </a:prstGeom>
          <a:solidFill>
            <a:srgbClr val="FBF3E8"/>
          </a:solidFill>
          <a:ln w="17780">
            <a:solidFill>
              <a:srgbClr val="EF7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832543" y="2459736"/>
            <a:ext cx="274320" cy="274320"/>
          </a:xfrm>
          <a:prstGeom prst="ellipse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832543" y="2514600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189159" y="2478024"/>
            <a:ext cx="144840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60" b="1" i="0">
                <a:solidFill>
                  <a:srgbClr val="313D71"/>
                </a:solidFill>
                <a:latin typeface="Trebuchet MS"/>
              </a:rPr>
              <a:t>Test the result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859975" y="2926080"/>
            <a:ext cx="1741017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Trebuchet MS"/>
              </a:rPr>
              <a:t>Checked against real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Trebuchet MS"/>
              </a:rPr>
              <a:t>exchange records, and re-run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Trebuchet MS"/>
              </a:rPr>
              <a:t>to confirm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81888" y="396849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478"/>
                </a:solidFill>
                <a:latin typeface="Trebuchet MS"/>
              </a:rPr>
              <a:t>SCOPE  —  WHAT THIS REVIEW SHOWS, AND WHAT COMES LATER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481888" y="4261104"/>
            <a:ext cx="11228832" cy="841248"/>
          </a:xfrm>
          <a:prstGeom prst="roundRect">
            <a:avLst>
              <a:gd name="adj" fmla="val 6521"/>
            </a:avLst>
          </a:prstGeom>
          <a:solidFill>
            <a:srgbClr val="F4F7FF"/>
          </a:solidFill>
          <a:ln w="1905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81888" y="4261104"/>
            <a:ext cx="77724" cy="841248"/>
          </a:xfrm>
          <a:prstGeom prst="rect">
            <a:avLst/>
          </a:prstGeom>
          <a:solidFill>
            <a:srgbClr val="31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19632" y="443484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1F2E"/>
                </a:solidFill>
                <a:latin typeface="Trebuchet MS"/>
              </a:rPr>
              <a:t>REVIEW #1  —  DEMONSTRATED IN THIS REVIEW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19632" y="4690872"/>
            <a:ext cx="8321040" cy="179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60" b="0" i="0">
                <a:solidFill>
                  <a:srgbClr val="1B1F2E"/>
                </a:solidFill>
                <a:latin typeface="Trebuchet MS"/>
              </a:rPr>
              <a:t>The numerical part: daily prices, trading activity, market conditions, and how movement spreads between shares.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9868192" y="4398264"/>
            <a:ext cx="1604783" cy="274320"/>
          </a:xfrm>
          <a:prstGeom prst="roundRect">
            <a:avLst>
              <a:gd name="adj" fmla="val 50000"/>
            </a:avLst>
          </a:prstGeom>
          <a:solidFill>
            <a:srgbClr val="E4EEE4"/>
          </a:solidFill>
          <a:ln w="1270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868192" y="4398264"/>
            <a:ext cx="16047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4E7A4E"/>
                </a:solidFill>
                <a:latin typeface="Trebuchet MS"/>
              </a:rPr>
              <a:t>BUILT  ·  RUNS TODAY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328202" y="4764024"/>
            <a:ext cx="314477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60" b="0" i="0">
                <a:solidFill>
                  <a:srgbClr val="5C6478"/>
                </a:solidFill>
                <a:latin typeface="Trebuchet MS"/>
              </a:rPr>
              <a:t>16 analysis modules  ·  16,558 trading days  ·  182 shares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81888" y="5266944"/>
            <a:ext cx="11228832" cy="841248"/>
          </a:xfrm>
          <a:prstGeom prst="roundRect">
            <a:avLst>
              <a:gd name="adj" fmla="val 6521"/>
            </a:avLst>
          </a:prstGeom>
          <a:solidFill>
            <a:srgbClr val="F6F7FA"/>
          </a:solidFill>
          <a:ln w="19050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81888" y="5266944"/>
            <a:ext cx="77724" cy="841248"/>
          </a:xfrm>
          <a:prstGeom prst="rect">
            <a:avLst/>
          </a:prstGeom>
          <a:solidFill>
            <a:srgbClr val="A8A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19632" y="54406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6D7488"/>
                </a:solidFill>
                <a:latin typeface="Trebuchet MS"/>
              </a:rPr>
              <a:t>LATER PHASES  —  NOT PART OF THIS REVIEW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19632" y="5696712"/>
            <a:ext cx="8321040" cy="179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60" b="0" i="0">
                <a:solidFill>
                  <a:srgbClr val="6D7488"/>
                </a:solidFill>
                <a:latin typeface="Trebuchet MS"/>
              </a:rPr>
              <a:t>The information side: news and social text, audio, video, who is speaking, how trustworthy they are, and how fast attention grows.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9567063" y="5404104"/>
            <a:ext cx="1905912" cy="274320"/>
          </a:xfrm>
          <a:prstGeom prst="roundRect">
            <a:avLst>
              <a:gd name="adj" fmla="val 50000"/>
            </a:avLst>
          </a:prstGeom>
          <a:solidFill>
            <a:srgbClr val="F1F2F5"/>
          </a:solidFill>
          <a:ln w="12700">
            <a:solidFill>
              <a:srgbClr val="8A9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567063" y="5404104"/>
            <a:ext cx="190591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8A90A0"/>
                </a:solidFill>
                <a:latin typeface="Trebuchet MS"/>
              </a:rPr>
              <a:t>DESIGN ONLY  ·  NOT BUILT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747302" y="5769864"/>
            <a:ext cx="272567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60" b="0" i="0">
                <a:solidFill>
                  <a:srgbClr val="5C6478"/>
                </a:solidFill>
                <a:latin typeface="Trebuchet MS"/>
              </a:rPr>
              <a:t>No result in this review depends on any of these.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85cdd0013_0_28"/>
          <p:cNvSpPr txBox="1"/>
          <p:nvPr/>
        </p:nvSpPr>
        <p:spPr>
          <a:xfrm>
            <a:off x="2895600" y="990600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 of Work Done in Capstone Project Phase - 1</a:t>
            </a:r>
            <a:endParaRPr sz="2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7" name="Google Shape;137;g3785cdd0013_0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785cdd0013_0_28"/>
          <p:cNvSpPr txBox="1"/>
          <p:nvPr/>
        </p:nvSpPr>
        <p:spPr>
          <a:xfrm>
            <a:off x="76201" y="63110"/>
            <a:ext cx="576072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Market Manipulation Using Multi-Source Signals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785cdd0013_0_2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140" name="Rounded Rectangle 139"/>
          <p:cNvSpPr/>
          <p:nvPr/>
        </p:nvSpPr>
        <p:spPr>
          <a:xfrm>
            <a:off x="481888" y="1828800"/>
            <a:ext cx="2601468" cy="3120664"/>
          </a:xfrm>
          <a:prstGeom prst="roundRect">
            <a:avLst>
              <a:gd name="adj" fmla="val 2108"/>
            </a:avLst>
          </a:prstGeom>
          <a:solidFill>
            <a:srgbClr val="FFFFFF"/>
          </a:solidFill>
          <a:ln w="15240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81888" y="1828800"/>
            <a:ext cx="2601468" cy="548640"/>
          </a:xfrm>
          <a:prstGeom prst="rect">
            <a:avLst/>
          </a:prstGeom>
          <a:solidFill>
            <a:srgbClr val="313D71"/>
          </a:solidFill>
          <a:ln w="1270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8192" y="1929384"/>
            <a:ext cx="236372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Trebuchet MS"/>
              </a:rPr>
              <a:t>WHERE WE STARTED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8192" y="2148840"/>
            <a:ext cx="236372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 i="1">
                <a:solidFill>
                  <a:srgbClr val="FFFFFF"/>
                </a:solidFill>
                <a:latin typeface="Trebuchet MS"/>
              </a:rPr>
              <a:t>the plan</a:t>
            </a:r>
          </a:p>
        </p:txBody>
      </p:sp>
      <p:sp>
        <p:nvSpPr>
          <p:cNvPr id="144" name="Oval 143"/>
          <p:cNvSpPr/>
          <p:nvPr/>
        </p:nvSpPr>
        <p:spPr>
          <a:xfrm>
            <a:off x="625449" y="2580436"/>
            <a:ext cx="78638" cy="78638"/>
          </a:xfrm>
          <a:prstGeom prst="ellipse">
            <a:avLst/>
          </a:prstGeom>
          <a:solidFill>
            <a:srgbClr val="31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92784" y="2542032"/>
            <a:ext cx="2144268" cy="4738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Combine stock-market numbers with public information to flag unusual market activity</a:t>
            </a:r>
          </a:p>
        </p:txBody>
      </p:sp>
      <p:sp>
        <p:nvSpPr>
          <p:cNvPr id="146" name="Oval 145"/>
          <p:cNvSpPr/>
          <p:nvPr/>
        </p:nvSpPr>
        <p:spPr>
          <a:xfrm>
            <a:off x="625449" y="3173150"/>
            <a:ext cx="78638" cy="78638"/>
          </a:xfrm>
          <a:prstGeom prst="ellipse">
            <a:avLst/>
          </a:prstGeom>
          <a:solidFill>
            <a:srgbClr val="31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92784" y="3134746"/>
            <a:ext cx="2144268" cy="321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Survey which data can actually be obtained, and under what licence</a:t>
            </a:r>
          </a:p>
        </p:txBody>
      </p:sp>
      <p:sp>
        <p:nvSpPr>
          <p:cNvPr id="148" name="Oval 147"/>
          <p:cNvSpPr/>
          <p:nvPr/>
        </p:nvSpPr>
        <p:spPr>
          <a:xfrm>
            <a:off x="625449" y="3614013"/>
            <a:ext cx="78638" cy="78638"/>
          </a:xfrm>
          <a:prstGeom prst="ellipse">
            <a:avLst/>
          </a:prstGeom>
          <a:solidFill>
            <a:srgbClr val="31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92784" y="3575608"/>
            <a:ext cx="2144268" cy="4738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Design the rule that every fact must record when it happened and when it became known</a:t>
            </a:r>
          </a:p>
        </p:txBody>
      </p:sp>
      <p:sp>
        <p:nvSpPr>
          <p:cNvPr id="150" name="Right Arrow 149"/>
          <p:cNvSpPr/>
          <p:nvPr/>
        </p:nvSpPr>
        <p:spPr>
          <a:xfrm>
            <a:off x="3129076" y="3334268"/>
            <a:ext cx="182879" cy="109728"/>
          </a:xfrm>
          <a:prstGeom prst="rightArrow">
            <a:avLst/>
          </a:prstGeom>
          <a:solidFill>
            <a:srgbClr val="9AA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3357676" y="1828800"/>
            <a:ext cx="2601468" cy="3120664"/>
          </a:xfrm>
          <a:prstGeom prst="roundRect">
            <a:avLst>
              <a:gd name="adj" fmla="val 2108"/>
            </a:avLst>
          </a:prstGeom>
          <a:solidFill>
            <a:srgbClr val="FFFFFF"/>
          </a:solidFill>
          <a:ln w="15240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357676" y="1828800"/>
            <a:ext cx="2601468" cy="548640"/>
          </a:xfrm>
          <a:prstGeom prst="rect">
            <a:avLst/>
          </a:prstGeom>
          <a:solidFill>
            <a:srgbClr val="EF7F1B"/>
          </a:solidFill>
          <a:ln w="12700">
            <a:solidFill>
              <a:srgbClr val="EF7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503980" y="1929384"/>
            <a:ext cx="236372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Trebuchet MS"/>
              </a:rPr>
              <a:t>WHAT THE SURVEY SHOWED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503980" y="2148840"/>
            <a:ext cx="236372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 i="1">
                <a:solidFill>
                  <a:srgbClr val="FFFFFF"/>
                </a:solidFill>
                <a:latin typeface="Trebuchet MS"/>
              </a:rPr>
              <a:t>the hard constraints</a:t>
            </a:r>
          </a:p>
        </p:txBody>
      </p:sp>
      <p:sp>
        <p:nvSpPr>
          <p:cNvPr id="155" name="Oval 154"/>
          <p:cNvSpPr/>
          <p:nvPr/>
        </p:nvSpPr>
        <p:spPr>
          <a:xfrm>
            <a:off x="3501237" y="2580436"/>
            <a:ext cx="78638" cy="78638"/>
          </a:xfrm>
          <a:prstGeom prst="ellipse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668572" y="2542032"/>
            <a:ext cx="2144268" cy="321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No licence-clear historical list of index members exists  (L-01)</a:t>
            </a:r>
          </a:p>
        </p:txBody>
      </p:sp>
      <p:sp>
        <p:nvSpPr>
          <p:cNvPr id="157" name="Oval 156"/>
          <p:cNvSpPr/>
          <p:nvPr/>
        </p:nvSpPr>
        <p:spPr>
          <a:xfrm>
            <a:off x="3501237" y="3021299"/>
            <a:ext cx="78638" cy="78638"/>
          </a:xfrm>
          <a:prstGeom prst="ellipse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668572" y="2982894"/>
            <a:ext cx="2144268" cy="4738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The exchange does not publish order-book depth or trade direction  (L-02)</a:t>
            </a:r>
          </a:p>
        </p:txBody>
      </p:sp>
      <p:sp>
        <p:nvSpPr>
          <p:cNvPr id="159" name="Oval 158"/>
          <p:cNvSpPr/>
          <p:nvPr/>
        </p:nvSpPr>
        <p:spPr>
          <a:xfrm>
            <a:off x="3501237" y="3614013"/>
            <a:ext cx="78638" cy="78638"/>
          </a:xfrm>
          <a:prstGeom prst="ellipse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668572" y="3575608"/>
            <a:ext cx="2144268" cy="321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No public, labelled record of real manipulation cases exists  (L-04)</a:t>
            </a:r>
          </a:p>
        </p:txBody>
      </p:sp>
      <p:sp>
        <p:nvSpPr>
          <p:cNvPr id="161" name="Oval 160"/>
          <p:cNvSpPr/>
          <p:nvPr/>
        </p:nvSpPr>
        <p:spPr>
          <a:xfrm>
            <a:off x="3501237" y="4054876"/>
            <a:ext cx="78638" cy="78638"/>
          </a:xfrm>
          <a:prstGeom prst="ellipse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668572" y="4016471"/>
            <a:ext cx="2144268" cy="321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Company fundamentals and valuation data are not obtainable  (L-13, L-14)</a:t>
            </a:r>
          </a:p>
        </p:txBody>
      </p:sp>
      <p:sp>
        <p:nvSpPr>
          <p:cNvPr id="163" name="Right Arrow 162"/>
          <p:cNvSpPr/>
          <p:nvPr/>
        </p:nvSpPr>
        <p:spPr>
          <a:xfrm>
            <a:off x="6004864" y="3334268"/>
            <a:ext cx="182879" cy="109728"/>
          </a:xfrm>
          <a:prstGeom prst="rightArrow">
            <a:avLst/>
          </a:prstGeom>
          <a:solidFill>
            <a:srgbClr val="9AA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6233464" y="1828800"/>
            <a:ext cx="2601468" cy="3120664"/>
          </a:xfrm>
          <a:prstGeom prst="roundRect">
            <a:avLst>
              <a:gd name="adj" fmla="val 2108"/>
            </a:avLst>
          </a:prstGeom>
          <a:solidFill>
            <a:srgbClr val="FFFFFF"/>
          </a:solidFill>
          <a:ln w="15240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233464" y="1828800"/>
            <a:ext cx="2601468" cy="548640"/>
          </a:xfrm>
          <a:prstGeom prst="rect">
            <a:avLst/>
          </a:prstGeom>
          <a:solidFill>
            <a:srgbClr val="7A5CA8"/>
          </a:solidFill>
          <a:ln w="12700">
            <a:solidFill>
              <a:srgbClr val="7A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79768" y="1929384"/>
            <a:ext cx="236372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Trebuchet MS"/>
              </a:rPr>
              <a:t>WHAT WE CHANGED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379768" y="2148840"/>
            <a:ext cx="236372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 i="1">
                <a:solidFill>
                  <a:srgbClr val="FFFFFF"/>
                </a:solidFill>
                <a:latin typeface="Trebuchet MS"/>
              </a:rPr>
              <a:t>the response</a:t>
            </a:r>
          </a:p>
        </p:txBody>
      </p:sp>
      <p:sp>
        <p:nvSpPr>
          <p:cNvPr id="168" name="Oval 167"/>
          <p:cNvSpPr/>
          <p:nvPr/>
        </p:nvSpPr>
        <p:spPr>
          <a:xfrm>
            <a:off x="6377025" y="2580436"/>
            <a:ext cx="78638" cy="78638"/>
          </a:xfrm>
          <a:prstGeom prst="ellipse">
            <a:avLst/>
          </a:prstGeom>
          <a:solidFill>
            <a:srgbClr val="7A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544360" y="2542032"/>
            <a:ext cx="2144268" cy="4738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Built our own month-by-month share list from traded value — 257 rebalances, no hindsight</a:t>
            </a:r>
          </a:p>
        </p:txBody>
      </p:sp>
      <p:sp>
        <p:nvSpPr>
          <p:cNvPr id="170" name="Oval 169"/>
          <p:cNvSpPr/>
          <p:nvPr/>
        </p:nvSpPr>
        <p:spPr>
          <a:xfrm>
            <a:off x="6377025" y="3173150"/>
            <a:ext cx="78638" cy="78638"/>
          </a:xfrm>
          <a:prstGeom prst="ellipse">
            <a:avLst/>
          </a:prstGeom>
          <a:solidFill>
            <a:srgbClr val="7A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544360" y="3134746"/>
            <a:ext cx="2144268" cy="4738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Kept four daily trading measures; anything unmeasurable is printed as NOT MEASURED, never guessed</a:t>
            </a:r>
          </a:p>
        </p:txBody>
      </p:sp>
      <p:sp>
        <p:nvSpPr>
          <p:cNvPr id="172" name="Oval 171"/>
          <p:cNvSpPr/>
          <p:nvPr/>
        </p:nvSpPr>
        <p:spPr>
          <a:xfrm>
            <a:off x="6377025" y="3765864"/>
            <a:ext cx="78638" cy="78638"/>
          </a:xfrm>
          <a:prstGeom prst="ellipse">
            <a:avLst/>
          </a:prstGeom>
          <a:solidFill>
            <a:srgbClr val="7A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544360" y="3727460"/>
            <a:ext cx="2144268" cy="4738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Injected known test cases into real price data, with the generator hidden from the detector</a:t>
            </a:r>
          </a:p>
        </p:txBody>
      </p:sp>
      <p:sp>
        <p:nvSpPr>
          <p:cNvPr id="174" name="Oval 173"/>
          <p:cNvSpPr/>
          <p:nvPr/>
        </p:nvSpPr>
        <p:spPr>
          <a:xfrm>
            <a:off x="6377025" y="4358579"/>
            <a:ext cx="78638" cy="78638"/>
          </a:xfrm>
          <a:prstGeom prst="ellipse">
            <a:avLst/>
          </a:prstGeom>
          <a:solidFill>
            <a:srgbClr val="7A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544360" y="4320174"/>
            <a:ext cx="2144268" cy="4738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Recorded every boundary in an open register: 15 limitations and 7 negative findings</a:t>
            </a:r>
          </a:p>
        </p:txBody>
      </p:sp>
      <p:sp>
        <p:nvSpPr>
          <p:cNvPr id="176" name="Right Arrow 175"/>
          <p:cNvSpPr/>
          <p:nvPr/>
        </p:nvSpPr>
        <p:spPr>
          <a:xfrm>
            <a:off x="8880652" y="3334268"/>
            <a:ext cx="182879" cy="109728"/>
          </a:xfrm>
          <a:prstGeom prst="rightArrow">
            <a:avLst/>
          </a:prstGeom>
          <a:solidFill>
            <a:srgbClr val="9AA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9109252" y="1828800"/>
            <a:ext cx="2601468" cy="3120664"/>
          </a:xfrm>
          <a:prstGeom prst="roundRect">
            <a:avLst>
              <a:gd name="adj" fmla="val 2108"/>
            </a:avLst>
          </a:prstGeom>
          <a:solidFill>
            <a:srgbClr val="FFFFFF"/>
          </a:solidFill>
          <a:ln w="15240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109252" y="1828800"/>
            <a:ext cx="2601468" cy="548640"/>
          </a:xfrm>
          <a:prstGeom prst="rect">
            <a:avLst/>
          </a:prstGeom>
          <a:solidFill>
            <a:srgbClr val="4E7A4E"/>
          </a:solidFill>
          <a:ln w="1270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9255556" y="1929384"/>
            <a:ext cx="236372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Trebuchet MS"/>
              </a:rPr>
              <a:t>WHERE REVIEW #1 STANDS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255556" y="2148840"/>
            <a:ext cx="236372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 i="1">
                <a:solidFill>
                  <a:srgbClr val="FFFFFF"/>
                </a:solidFill>
                <a:latin typeface="Trebuchet MS"/>
              </a:rPr>
              <a:t>what runs today</a:t>
            </a:r>
          </a:p>
        </p:txBody>
      </p:sp>
      <p:sp>
        <p:nvSpPr>
          <p:cNvPr id="181" name="Oval 180"/>
          <p:cNvSpPr/>
          <p:nvPr/>
        </p:nvSpPr>
        <p:spPr>
          <a:xfrm>
            <a:off x="9252813" y="2580436"/>
            <a:ext cx="78638" cy="78638"/>
          </a:xfrm>
          <a:prstGeom prst="ellipse">
            <a:avLst/>
          </a:prstGeom>
          <a:solidFill>
            <a:srgbClr val="4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420148" y="2542032"/>
            <a:ext cx="2144268" cy="321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16 numerical analysis modules, built and runnable one by one</a:t>
            </a:r>
          </a:p>
        </p:txBody>
      </p:sp>
      <p:sp>
        <p:nvSpPr>
          <p:cNvPr id="183" name="Oval 182"/>
          <p:cNvSpPr/>
          <p:nvPr/>
        </p:nvSpPr>
        <p:spPr>
          <a:xfrm>
            <a:off x="9252813" y="3021299"/>
            <a:ext cx="78638" cy="78638"/>
          </a:xfrm>
          <a:prstGeom prst="ellipse">
            <a:avLst/>
          </a:prstGeom>
          <a:solidFill>
            <a:srgbClr val="4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420148" y="2982894"/>
            <a:ext cx="2144268" cy="4738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25 automated tests passing, including 11 that hunt for hidden future information</a:t>
            </a:r>
          </a:p>
        </p:txBody>
      </p:sp>
      <p:sp>
        <p:nvSpPr>
          <p:cNvPr id="185" name="Oval 184"/>
          <p:cNvSpPr/>
          <p:nvPr/>
        </p:nvSpPr>
        <p:spPr>
          <a:xfrm>
            <a:off x="9252813" y="3614013"/>
            <a:ext cx="78638" cy="78638"/>
          </a:xfrm>
          <a:prstGeom prst="ellipse">
            <a:avLst/>
          </a:prstGeom>
          <a:solidFill>
            <a:srgbClr val="4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420148" y="3575608"/>
            <a:ext cx="2144268" cy="4738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Whole pipeline runs on this machine: interface builds, service answers live requests</a:t>
            </a:r>
          </a:p>
        </p:txBody>
      </p:sp>
      <p:sp>
        <p:nvSpPr>
          <p:cNvPr id="187" name="Oval 186"/>
          <p:cNvSpPr/>
          <p:nvPr/>
        </p:nvSpPr>
        <p:spPr>
          <a:xfrm>
            <a:off x="9252813" y="4206727"/>
            <a:ext cx="78638" cy="78638"/>
          </a:xfrm>
          <a:prstGeom prst="ellipse">
            <a:avLst/>
          </a:prstGeom>
          <a:solidFill>
            <a:srgbClr val="4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420148" y="4168322"/>
            <a:ext cx="2144268" cy="3219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40" b="0" i="0">
                <a:solidFill>
                  <a:srgbClr val="1B1F2E"/>
                </a:solidFill>
                <a:latin typeface="Trebuchet MS"/>
              </a:rPr>
              <a:t>The same numbers came back on three separate runs, days apart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481888" y="5095768"/>
            <a:ext cx="11228832" cy="640080"/>
          </a:xfrm>
          <a:prstGeom prst="roundRect">
            <a:avLst>
              <a:gd name="adj" fmla="val 8571"/>
            </a:avLst>
          </a:prstGeom>
          <a:solidFill>
            <a:srgbClr val="FBF3E8"/>
          </a:solidFill>
          <a:ln w="16510">
            <a:solidFill>
              <a:srgbClr val="EF7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1888" y="5095768"/>
            <a:ext cx="77724" cy="640080"/>
          </a:xfrm>
          <a:prstGeom prst="rect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19632" y="515063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EF7F1B"/>
                </a:solidFill>
                <a:latin typeface="Trebuchet MS"/>
              </a:rPr>
              <a:t>CONTINUITY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19632" y="5315224"/>
            <a:ext cx="10771632" cy="179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60" b="0" i="0">
                <a:solidFill>
                  <a:srgbClr val="1B1F2E"/>
                </a:solidFill>
                <a:latin typeface="Trebuchet MS"/>
              </a:rPr>
              <a:t>Same project, same data, same rules — Review #1 demonstrates the numerical foundation the later information-based work will build on.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19632" y="5516392"/>
            <a:ext cx="10771632" cy="158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5C6478"/>
                </a:solidFill>
                <a:latin typeface="Trebuchet MS"/>
              </a:rPr>
              <a:t>Every constraint and every change listed above is recorded in the project’s own limitations register and is visible in the running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85cdd0013_0_38"/>
          <p:cNvSpPr txBox="1"/>
          <p:nvPr/>
        </p:nvSpPr>
        <p:spPr>
          <a:xfrm>
            <a:off x="2773600" y="8122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of Overall Architecture and Modules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g3785cdd0013_0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785cdd0013_0_38"/>
          <p:cNvSpPr txBox="1"/>
          <p:nvPr/>
        </p:nvSpPr>
        <p:spPr>
          <a:xfrm>
            <a:off x="76201" y="63110"/>
            <a:ext cx="576072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Market Manipulation Using Multi-Source Signals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785cdd0013_0_3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481888" y="14447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5C6478"/>
                </a:solidFill>
                <a:latin typeface="Trebuchet MS"/>
              </a:rPr>
              <a:t>WHAT IS ACTUALLY BUILT: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036368" y="1458468"/>
            <a:ext cx="182880" cy="128016"/>
          </a:xfrm>
          <a:prstGeom prst="rect">
            <a:avLst/>
          </a:prstGeom>
          <a:solidFill>
            <a:srgbClr val="E4EEE4"/>
          </a:solidFill>
          <a:ln w="1524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292400" y="1444752"/>
            <a:ext cx="209321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4E7A4E"/>
                </a:solidFill>
                <a:latin typeface="Trebuchet MS"/>
              </a:rPr>
              <a:t>COMPLETED — implemented and runs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440478" y="1458468"/>
            <a:ext cx="182880" cy="128016"/>
          </a:xfrm>
          <a:prstGeom prst="rect">
            <a:avLst/>
          </a:prstGeom>
          <a:solidFill>
            <a:srgbClr val="FDF0DC"/>
          </a:solidFill>
          <a:ln w="15240">
            <a:solidFill>
              <a:srgbClr val="C97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696510" y="1444752"/>
            <a:ext cx="1334627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C97B12"/>
                </a:solidFill>
                <a:latin typeface="Trebuchet MS"/>
              </a:rPr>
              <a:t>PARTIALLY COMPLETED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086001" y="1458468"/>
            <a:ext cx="182880" cy="128016"/>
          </a:xfrm>
          <a:prstGeom prst="rect">
            <a:avLst/>
          </a:prstGeom>
          <a:solidFill>
            <a:srgbClr val="F1F2F5"/>
          </a:solidFill>
          <a:ln w="15240">
            <a:solidFill>
              <a:srgbClr val="8A9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342033" y="1444752"/>
            <a:ext cx="132867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8A90A0"/>
                </a:solidFill>
                <a:latin typeface="Trebuchet MS"/>
              </a:rPr>
              <a:t>PLANNED — design only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81888" y="1737360"/>
            <a:ext cx="2055571" cy="3005998"/>
          </a:xfrm>
          <a:prstGeom prst="roundRect">
            <a:avLst>
              <a:gd name="adj" fmla="val 2669"/>
            </a:avLst>
          </a:prstGeom>
          <a:solidFill>
            <a:srgbClr val="FAFBFD"/>
          </a:solidFill>
          <a:ln w="15240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81888" y="1737360"/>
            <a:ext cx="2055571" cy="475488"/>
          </a:xfrm>
          <a:prstGeom prst="rect">
            <a:avLst/>
          </a:prstGeom>
          <a:solidFill>
            <a:srgbClr val="313D71"/>
          </a:solidFill>
          <a:ln w="1270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559612" y="1851660"/>
            <a:ext cx="246888" cy="246888"/>
          </a:xfrm>
          <a:prstGeom prst="ellipse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55040" y="190195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5936" y="1737360"/>
            <a:ext cx="1598371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Trebuchet MS"/>
              </a:rPr>
              <a:t>DATA GOES IN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73328" y="2340864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64768" y="2423160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Daily prices and trading activity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NSE shares, 1994–2026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73328" y="2902183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64768" y="2984479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Minute-by-minute bars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626,856 bars, 50 shares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73328" y="3463503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64768" y="3545799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Exchange price-limit records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50,382 rows, 254 sessions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73328" y="4024823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64768" y="4107119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Known test cases planted in the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real data — 140 episodes</a:t>
            </a:r>
          </a:p>
        </p:txBody>
      </p:sp>
      <p:sp>
        <p:nvSpPr>
          <p:cNvPr id="169" name="Right Arrow 168"/>
          <p:cNvSpPr/>
          <p:nvPr/>
        </p:nvSpPr>
        <p:spPr>
          <a:xfrm>
            <a:off x="2569464" y="3176351"/>
            <a:ext cx="173736" cy="128016"/>
          </a:xfrm>
          <a:prstGeom prst="rightArrow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2775204" y="1737360"/>
            <a:ext cx="2055571" cy="3005998"/>
          </a:xfrm>
          <a:prstGeom prst="roundRect">
            <a:avLst>
              <a:gd name="adj" fmla="val 2669"/>
            </a:avLst>
          </a:prstGeom>
          <a:solidFill>
            <a:srgbClr val="FAFBFD"/>
          </a:solidFill>
          <a:ln w="15240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2775204" y="1737360"/>
            <a:ext cx="2055571" cy="475488"/>
          </a:xfrm>
          <a:prstGeom prst="rect">
            <a:avLst/>
          </a:prstGeom>
          <a:solidFill>
            <a:srgbClr val="313D71"/>
          </a:solidFill>
          <a:ln w="1270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2852928" y="1851660"/>
            <a:ext cx="246888" cy="246888"/>
          </a:xfrm>
          <a:prstGeom prst="ellipse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2848356" y="190195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159252" y="1737360"/>
            <a:ext cx="1598371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Trebuchet MS"/>
              </a:rPr>
              <a:t>GET IT READY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2866644" y="2340864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958084" y="2423160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Month-by-month list of which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shares count — 257 rebalances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2866644" y="2902183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958084" y="2984479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Every fact stamped twice: when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it happened, when it was known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2866644" y="3463503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958084" y="3545799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One tidy table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16,558 days × 50 columns</a:t>
            </a:r>
          </a:p>
        </p:txBody>
      </p:sp>
      <p:sp>
        <p:nvSpPr>
          <p:cNvPr id="181" name="Right Arrow 180"/>
          <p:cNvSpPr/>
          <p:nvPr/>
        </p:nvSpPr>
        <p:spPr>
          <a:xfrm>
            <a:off x="4862779" y="3176351"/>
            <a:ext cx="173736" cy="128016"/>
          </a:xfrm>
          <a:prstGeom prst="rightArrow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5068519" y="1737360"/>
            <a:ext cx="2055571" cy="3005998"/>
          </a:xfrm>
          <a:prstGeom prst="roundRect">
            <a:avLst>
              <a:gd name="adj" fmla="val 2669"/>
            </a:avLst>
          </a:prstGeom>
          <a:solidFill>
            <a:srgbClr val="FAFBFD"/>
          </a:solidFill>
          <a:ln w="15240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5068519" y="1737360"/>
            <a:ext cx="2055571" cy="475488"/>
          </a:xfrm>
          <a:prstGeom prst="rect">
            <a:avLst/>
          </a:prstGeom>
          <a:solidFill>
            <a:srgbClr val="313D71"/>
          </a:solidFill>
          <a:ln w="1270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146243" y="1851660"/>
            <a:ext cx="246888" cy="246888"/>
          </a:xfrm>
          <a:prstGeom prst="ellipse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141671" y="190195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452567" y="1737360"/>
            <a:ext cx="1598371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Trebuchet MS"/>
              </a:rPr>
              <a:t>TURN IT INTO MEASURES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5159959" y="2340864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251399" y="2423160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Price and activity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18 measures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5159959" y="2902183"/>
            <a:ext cx="1872691" cy="599663"/>
          </a:xfrm>
          <a:prstGeom prst="roundRect">
            <a:avLst>
              <a:gd name="adj" fmla="val 7624"/>
            </a:avLst>
          </a:prstGeom>
          <a:solidFill>
            <a:srgbClr val="FDF0DC"/>
          </a:solidFill>
          <a:ln w="13970">
            <a:solidFill>
              <a:srgbClr val="C97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251399" y="2984479"/>
            <a:ext cx="1689811" cy="4899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Trading-pattern proxies — 4 of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them; real order-book depth is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not published anywhere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5159959" y="3602431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251399" y="3684727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Market conditions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4 conditions found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5159959" y="4163750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251399" y="4246046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Spill-over between shares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5 measures</a:t>
            </a:r>
          </a:p>
        </p:txBody>
      </p:sp>
      <p:sp>
        <p:nvSpPr>
          <p:cNvPr id="195" name="Right Arrow 194"/>
          <p:cNvSpPr/>
          <p:nvPr/>
        </p:nvSpPr>
        <p:spPr>
          <a:xfrm>
            <a:off x="7156094" y="3176351"/>
            <a:ext cx="173736" cy="128016"/>
          </a:xfrm>
          <a:prstGeom prst="rightArrow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7361834" y="1737360"/>
            <a:ext cx="2055571" cy="3005998"/>
          </a:xfrm>
          <a:prstGeom prst="roundRect">
            <a:avLst>
              <a:gd name="adj" fmla="val 2669"/>
            </a:avLst>
          </a:prstGeom>
          <a:solidFill>
            <a:srgbClr val="FAFBFD"/>
          </a:solidFill>
          <a:ln w="15240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361834" y="1737360"/>
            <a:ext cx="2055571" cy="475488"/>
          </a:xfrm>
          <a:prstGeom prst="rect">
            <a:avLst/>
          </a:prstGeom>
          <a:solidFill>
            <a:srgbClr val="313D71"/>
          </a:solidFill>
          <a:ln w="1270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439558" y="1851660"/>
            <a:ext cx="246888" cy="246888"/>
          </a:xfrm>
          <a:prstGeom prst="ellipse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434986" y="190195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745882" y="1737360"/>
            <a:ext cx="1598371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Trebuchet MS"/>
              </a:rPr>
              <a:t>FIND AND MEASURE THE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Trebuchet MS"/>
              </a:rPr>
              <a:t>UNUSUAL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7453274" y="2340864"/>
            <a:ext cx="1872691" cy="599663"/>
          </a:xfrm>
          <a:prstGeom prst="roundRect">
            <a:avLst>
              <a:gd name="adj" fmla="val 7624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7544714" y="2423160"/>
            <a:ext cx="1689811" cy="4899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Alarm level fixed from an error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budget declared before seeing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any data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7453274" y="3041111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544714" y="3123407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Unusual-activity detector,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corrected for bursty trading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7453274" y="3602431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544714" y="3684727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A score, how confident it is, and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how much evidence it had</a:t>
            </a:r>
          </a:p>
        </p:txBody>
      </p:sp>
      <p:sp>
        <p:nvSpPr>
          <p:cNvPr id="207" name="Right Arrow 206"/>
          <p:cNvSpPr/>
          <p:nvPr/>
        </p:nvSpPr>
        <p:spPr>
          <a:xfrm>
            <a:off x="9449409" y="3176351"/>
            <a:ext cx="173736" cy="128016"/>
          </a:xfrm>
          <a:prstGeom prst="rightArrow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9655149" y="1737360"/>
            <a:ext cx="2055571" cy="3005998"/>
          </a:xfrm>
          <a:prstGeom prst="roundRect">
            <a:avLst>
              <a:gd name="adj" fmla="val 2669"/>
            </a:avLst>
          </a:prstGeom>
          <a:solidFill>
            <a:srgbClr val="FAFBFD"/>
          </a:solidFill>
          <a:ln w="15240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655149" y="1737360"/>
            <a:ext cx="2055571" cy="475488"/>
          </a:xfrm>
          <a:prstGeom prst="rect">
            <a:avLst/>
          </a:prstGeom>
          <a:solidFill>
            <a:srgbClr val="313D71"/>
          </a:solidFill>
          <a:ln w="1270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732873" y="1851660"/>
            <a:ext cx="246888" cy="246888"/>
          </a:xfrm>
          <a:prstGeom prst="ellipse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728301" y="190195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0039197" y="1737360"/>
            <a:ext cx="1598371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Trebuchet MS"/>
              </a:rPr>
              <a:t>TEST AND SHOW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746589" y="2340864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838029" y="2423160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16 analysis modules, each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runnable on its own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9746589" y="2902183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838029" y="2984479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25 automated tests including 11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leakage checks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9746589" y="3463503"/>
            <a:ext cx="1872691" cy="460735"/>
          </a:xfrm>
          <a:prstGeom prst="roundRect">
            <a:avLst>
              <a:gd name="adj" fmla="val 9923"/>
            </a:avLst>
          </a:prstGeom>
          <a:solidFill>
            <a:srgbClr val="E4EEE4"/>
          </a:solidFill>
          <a:ln w="13970">
            <a:solidFill>
              <a:srgbClr val="4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9838029" y="3545799"/>
            <a:ext cx="1689811" cy="3510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Local service and web interface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60" b="0" i="0">
                <a:solidFill>
                  <a:srgbClr val="1B1F2E"/>
                </a:solidFill>
                <a:latin typeface="Trebuchet MS"/>
              </a:rPr>
              <a:t>237 pages, built and served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481888" y="4926238"/>
            <a:ext cx="11228832" cy="841248"/>
          </a:xfrm>
          <a:prstGeom prst="roundRect">
            <a:avLst>
              <a:gd name="adj" fmla="val 6521"/>
            </a:avLst>
          </a:prstGeom>
          <a:solidFill>
            <a:srgbClr val="F1F2F5"/>
          </a:solidFill>
          <a:ln w="16510">
            <a:solidFill>
              <a:srgbClr val="8A9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481888" y="4926238"/>
            <a:ext cx="77724" cy="841248"/>
          </a:xfrm>
          <a:prstGeom prst="rect">
            <a:avLst/>
          </a:prstGeom>
          <a:solidFill>
            <a:srgbClr val="A8A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719632" y="5026822"/>
            <a:ext cx="1077163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F6678"/>
                </a:solidFill>
                <a:latin typeface="Trebuchet MS"/>
              </a:rPr>
              <a:t>PLANNED FOR LATER PHASES  —  none of this is built, and no result in this review uses it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719632" y="5310286"/>
            <a:ext cx="14137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BC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719632" y="5310286"/>
            <a:ext cx="141376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 i="0">
                <a:solidFill>
                  <a:srgbClr val="6B7284"/>
                </a:solidFill>
                <a:latin typeface="Trebuchet MS"/>
              </a:rPr>
              <a:t>Emotion from news text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2243124" y="5310286"/>
            <a:ext cx="12029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BC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2243124" y="5310286"/>
            <a:ext cx="1202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 i="0">
                <a:solidFill>
                  <a:srgbClr val="6B7284"/>
                </a:solidFill>
                <a:latin typeface="Trebuchet MS"/>
              </a:rPr>
              <a:t>Emotion from audio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3555796" y="5310286"/>
            <a:ext cx="119913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BC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555796" y="5310286"/>
            <a:ext cx="119913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 i="0">
                <a:solidFill>
                  <a:srgbClr val="6B7284"/>
                </a:solidFill>
                <a:latin typeface="Trebuchet MS"/>
              </a:rPr>
              <a:t>Emotion from video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4864658" y="5310286"/>
            <a:ext cx="149885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BC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4864658" y="5310286"/>
            <a:ext cx="149885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 i="0">
                <a:solidFill>
                  <a:srgbClr val="6B7284"/>
                </a:solidFill>
                <a:latin typeface="Trebuchet MS"/>
              </a:rPr>
              <a:t>Who is speaking (5 levels)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473240" y="5310286"/>
            <a:ext cx="159644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BC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6473240" y="5310286"/>
            <a:ext cx="1596445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 i="0">
                <a:solidFill>
                  <a:srgbClr val="6B7284"/>
                </a:solidFill>
                <a:latin typeface="Trebuchet MS"/>
              </a:rPr>
              <a:t>How trustworthy, over time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8179414" y="5310286"/>
            <a:ext cx="14696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BC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8179414" y="5310286"/>
            <a:ext cx="14696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 i="0">
                <a:solidFill>
                  <a:srgbClr val="6B7284"/>
                </a:solidFill>
                <a:latin typeface="Trebuchet MS"/>
              </a:rPr>
              <a:t>How fast attention grows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9758786" y="5310286"/>
            <a:ext cx="12524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BC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9758786" y="5310286"/>
            <a:ext cx="125247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 i="0">
                <a:solidFill>
                  <a:srgbClr val="6B7284"/>
                </a:solidFill>
                <a:latin typeface="Trebuchet MS"/>
              </a:rPr>
              <a:t>One combined signal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85cdd0013_0_47"/>
          <p:cNvSpPr txBox="1"/>
          <p:nvPr/>
        </p:nvSpPr>
        <p:spPr>
          <a:xfrm>
            <a:off x="3048000" y="780763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g3785cdd0013_0_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785cdd0013_0_47"/>
          <p:cNvSpPr txBox="1"/>
          <p:nvPr/>
        </p:nvSpPr>
        <p:spPr>
          <a:xfrm>
            <a:off x="76201" y="63110"/>
            <a:ext cx="576072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Market Manipulation Using Multi-Source Signals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785cdd0013_0_4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graphicFrame>
        <p:nvGraphicFramePr>
          <p:cNvPr id="158" name="Table 157"/>
          <p:cNvGraphicFramePr>
            <a:graphicFrameLocks noGrp="1"/>
          </p:cNvGraphicFramePr>
          <p:nvPr/>
        </p:nvGraphicFramePr>
        <p:xfrm>
          <a:off x="481888" y="1554480"/>
          <a:ext cx="11228832" cy="325379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81328"/>
                <a:gridCol w="2011680"/>
                <a:gridCol w="2615184"/>
                <a:gridCol w="283464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FFFFFF"/>
                          </a:solidFill>
                          <a:latin typeface="Trebuchet MS"/>
                        </a:rPr>
                        <a:t>MODULES BUILT</a:t>
                      </a:r>
                    </a:p>
                  </a:txBody>
                  <a:tcPr marL="82296" marR="82296" marT="27432" marB="27432" anchor="ctr">
                    <a:solidFill>
                      <a:srgbClr val="313D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FFFFFF"/>
                          </a:solidFill>
                          <a:latin typeface="Trebuchet MS"/>
                        </a:rPr>
                        <a:t>WHAT GOES IN</a:t>
                      </a:r>
                    </a:p>
                  </a:txBody>
                  <a:tcPr marL="82296" marR="82296" marT="27432" marB="27432" anchor="ctr">
                    <a:solidFill>
                      <a:srgbClr val="313D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FFFFFF"/>
                          </a:solidFill>
                          <a:latin typeface="Trebuchet MS"/>
                        </a:rPr>
                        <a:t>WHAT THE MODULE DOES</a:t>
                      </a:r>
                    </a:p>
                  </a:txBody>
                  <a:tcPr marL="82296" marR="82296" marT="27432" marB="27432" anchor="ctr">
                    <a:solidFill>
                      <a:srgbClr val="313D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FFFFFF"/>
                          </a:solidFill>
                          <a:latin typeface="Trebuchet MS"/>
                        </a:rPr>
                        <a:t>WHAT COMES OUT</a:t>
                      </a:r>
                    </a:p>
                  </a:txBody>
                  <a:tcPr marL="82296" marR="82296" marT="27432" marB="27432" anchor="ctr">
                    <a:solidFill>
                      <a:srgbClr val="313D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FFFFFF"/>
                          </a:solidFill>
                          <a:latin typeface="Trebuchet MS"/>
                        </a:rPr>
                        <a:t>WHY IT MATTERS</a:t>
                      </a:r>
                    </a:p>
                  </a:txBody>
                  <a:tcPr marL="82296" marR="82296" marT="27432" marB="27432" anchor="ctr">
                    <a:solidFill>
                      <a:srgbClr val="313D71"/>
                    </a:solidFill>
                  </a:tcPr>
                </a:tc>
              </a:tr>
              <a:tr h="65690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Getting the data straight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EF7F1B"/>
                          </a:solidFill>
                          <a:latin typeface="Trebuchet MS"/>
                        </a:rPr>
                        <a:t>STATS 01 · 02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Daily prices and trading activity published by the exchange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Rebuild, month by month, which shares count — using only sessions before that month. Stamp every fact with when it happened and when it became known.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1E4620"/>
                          </a:solidFill>
                          <a:latin typeface="Trebuchet MS"/>
                        </a:rPr>
                        <a:t>One clean table: 16,558 share-days, 182 shares, 50 columns, 0 duplicates. 257 monthly rebalances.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Nothing later can be trusted if the input is untidy, or if it can peek at the future.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534009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Learning what is normal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EF7F1B"/>
                          </a:solidFill>
                          <a:latin typeface="Trebuchet MS"/>
                        </a:rPr>
                        <a:t>STATS 03 · 04 · 05 · 07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The clean table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Measure each share's usual price movement, trading behaviour, market conditions and worst days.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1E4620"/>
                          </a:solidFill>
                          <a:latin typeface="Trebuchet MS"/>
                        </a:rPr>
                        <a:t>34 measures profiled, 2 found to never vary. 4 market conditions found; the largest covers 58.7% of days.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You cannot call a day unusual until you know what usual looks like.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096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Spotting the unusual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EF7F1B"/>
                          </a:solidFill>
                          <a:latin typeface="Trebuchet MS"/>
                        </a:rPr>
                        <a:t>STATS 06 · 08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Daily trade counts and price moves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Set the alarm level from an error budget fixed before any data was seen, then widen it for how bursty real trading actually is.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1E4620"/>
                          </a:solidFill>
                          <a:latin typeface="Trebuchet MS"/>
                        </a:rPr>
                        <a:t>2,081 unusual sessions out of 151,648. The plain textbook rule would have flagged 72,642 — 97.1% fewer alarms.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Fewer false alarms is what makes the output reviewable by a person.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510966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Scoring and checking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EF7F1B"/>
                          </a:solidFill>
                          <a:latin typeface="Trebuchet MS"/>
                        </a:rPr>
                        <a:t>STATS 09 · 10 · 11 · 12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The measures, for every share-day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Four separate learners, one per kind of evidence, combined into a single score that also reports its own confidence.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1E4620"/>
                          </a:solidFill>
                          <a:latin typeface="Trebuchet MS"/>
                        </a:rPr>
                        <a:t>A score, a confidence and a coverage figure per day; a right/wrong table; a reliability curve; an error breakdown.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A number is only useful if you also know how much to trust it.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6904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Proving it holds up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EF7F1B"/>
                          </a:solidFill>
                          <a:latin typeface="Trebuchet MS"/>
                        </a:rPr>
                        <a:t>STATS 13 · 14 · 15 · 16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The scores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Compare against simpler methods, remove one part at a time, damage the inputs on purpose, and repeat everything with 10 different random starts.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1E4620"/>
                          </a:solidFill>
                          <a:latin typeface="Trebuchet MS"/>
                        </a:rPr>
                        <a:t>320 model fits (32 versions × 10 starts). The noise floor a difference must clear: 0.0088.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1B1F2E"/>
                          </a:solidFill>
                          <a:latin typeface="Trebuchet MS"/>
                        </a:rPr>
                        <a:t>Separates results that are real from results that are luck.</a:t>
                      </a:r>
                    </a:p>
                  </a:txBody>
                  <a:tcPr marL="82296" marR="82296" marT="27432" marB="27432" anchor="ctr">
                    <a:lnL w="9525" cap="flat" cmpd="sng" algn="ctr">
                      <a:solidFill>
                        <a:srgbClr val="C9CEDC"/>
                      </a:solidFill>
                    </a:lnL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59" name="Rounded Rectangle 158"/>
          <p:cNvSpPr/>
          <p:nvPr/>
        </p:nvSpPr>
        <p:spPr>
          <a:xfrm>
            <a:off x="481888" y="4936296"/>
            <a:ext cx="11228832" cy="1005840"/>
          </a:xfrm>
          <a:prstGeom prst="roundRect">
            <a:avLst>
              <a:gd name="adj" fmla="val 4545"/>
            </a:avLst>
          </a:prstGeom>
          <a:solidFill>
            <a:srgbClr val="EEF1F8"/>
          </a:solidFill>
          <a:ln w="1524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83056" y="5009448"/>
            <a:ext cx="108264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313D71"/>
                </a:solidFill>
                <a:latin typeface="Trebuchet MS"/>
              </a:rPr>
              <a:t>TOOLS AND TECHNOLOGIES ACTUALLY USED  —  every one of them open-source; the data sources are exchange publications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83056" y="521061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EF7F1B"/>
                </a:solidFill>
                <a:latin typeface="Trebuchet MS"/>
              </a:rPr>
              <a:t>Analysis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054656" y="5210616"/>
            <a:ext cx="945489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B1F2E"/>
                </a:solidFill>
                <a:latin typeface="Trebuchet MS"/>
              </a:rPr>
              <a:t>Python 3.12 · pandas · NumPy · SciPy · scikit-learn · statsmodels · NetworkX · Matplotlib · SHAP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83056" y="538892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EF7F1B"/>
                </a:solidFill>
                <a:latin typeface="Trebuchet MS"/>
              </a:rPr>
              <a:t>Interface &amp; service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054656" y="5388924"/>
            <a:ext cx="945489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B1F2E"/>
                </a:solidFill>
                <a:latin typeface="Trebuchet MS"/>
              </a:rPr>
              <a:t>Next.js 15 · React 19 · TypeScript 5.7 · Node.js 24 · Python http.server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83056" y="556723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EF7F1B"/>
                </a:solidFill>
                <a:latin typeface="Trebuchet MS"/>
              </a:rPr>
              <a:t>Storage &amp; testing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054656" y="5567232"/>
            <a:ext cx="945489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B1F2E"/>
                </a:solidFill>
                <a:latin typeface="Trebuchet MS"/>
              </a:rPr>
              <a:t>Apache Parquet / PyArrow · DuckDB · pytest · ruff · PyYAML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83056" y="574554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EF7F1B"/>
                </a:solidFill>
                <a:latin typeface="Trebuchet MS"/>
              </a:rPr>
              <a:t>Data sources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054656" y="5745540"/>
            <a:ext cx="945489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B1F2E"/>
                </a:solidFill>
                <a:latin typeface="Trebuchet MS"/>
              </a:rPr>
              <a:t>NSE daily bhavcopy · NSE price-band records · third-party intraday bars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85cdd0013_0_56"/>
          <p:cNvSpPr txBox="1"/>
          <p:nvPr/>
        </p:nvSpPr>
        <p:spPr>
          <a:xfrm>
            <a:off x="3351475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Individual Contribution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g3785cdd0013_0_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785cdd0013_0_56"/>
          <p:cNvSpPr txBox="1"/>
          <p:nvPr/>
        </p:nvSpPr>
        <p:spPr>
          <a:xfrm>
            <a:off x="76201" y="63110"/>
            <a:ext cx="576072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Market Manipulation Using Multi-Source Signals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785cdd0013_0_5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graphicFrame>
        <p:nvGraphicFramePr>
          <p:cNvPr id="167" name="Table 166"/>
          <p:cNvGraphicFramePr>
            <a:graphicFrameLocks noGrp="1"/>
          </p:cNvGraphicFramePr>
          <p:nvPr/>
        </p:nvGraphicFramePr>
        <p:xfrm>
          <a:off x="481888" y="1572768"/>
          <a:ext cx="11228832" cy="27066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15184"/>
                <a:gridCol w="1737360"/>
                <a:gridCol w="640080"/>
                <a:gridCol w="914400"/>
                <a:gridCol w="731520"/>
                <a:gridCol w="4590288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Trebuchet MS"/>
                        </a:rPr>
                        <a:t>WORK PACKAGE</a:t>
                      </a:r>
                    </a:p>
                  </a:txBody>
                  <a:tcPr marL="82296" marR="82296" marT="27432" marB="27432" anchor="ctr">
                    <a:solidFill>
                      <a:srgbClr val="313D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Trebuchet MS"/>
                        </a:rPr>
                        <a:t>MODULES IT SERVES</a:t>
                      </a:r>
                    </a:p>
                  </a:txBody>
                  <a:tcPr marL="82296" marR="82296" marT="27432" marB="27432" anchor="ctr">
                    <a:solidFill>
                      <a:srgbClr val="313D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Trebuchet MS"/>
                        </a:rPr>
                        <a:t>FILES</a:t>
                      </a:r>
                    </a:p>
                  </a:txBody>
                  <a:tcPr marL="82296" marR="82296" marT="27432" marB="27432" anchor="ctr">
                    <a:solidFill>
                      <a:srgbClr val="313D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Trebuchet MS"/>
                        </a:rPr>
                        <a:t>LINES OF CODE</a:t>
                      </a:r>
                    </a:p>
                  </a:txBody>
                  <a:tcPr marL="82296" marR="82296" marT="27432" marB="27432" anchor="ctr">
                    <a:solidFill>
                      <a:srgbClr val="313D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Trebuchet MS"/>
                        </a:rPr>
                        <a:t>SHARE</a:t>
                      </a:r>
                    </a:p>
                  </a:txBody>
                  <a:tcPr marL="82296" marR="82296" marT="27432" marB="27432" anchor="ctr">
                    <a:solidFill>
                      <a:srgbClr val="313D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Trebuchet MS"/>
                        </a:rPr>
                        <a:t>TEAM MEMBER RESPONSIBLE</a:t>
                      </a:r>
                    </a:p>
                  </a:txBody>
                  <a:tcPr marL="82296" marR="82296" marT="27432" marB="27432" anchor="ctr">
                    <a:solidFill>
                      <a:srgbClr val="313D7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Data foundation and integrity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EF7F1B"/>
                          </a:solidFill>
                          <a:latin typeface="Trebuchet MS"/>
                        </a:rPr>
                        <a:t>STATS 01 · 02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11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B1F2E"/>
                          </a:solidFill>
                          <a:latin typeface="Trebuchet MS"/>
                        </a:rPr>
                        <a:t>3,393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5C6478"/>
                          </a:solidFill>
                          <a:latin typeface="Trebuchet MS"/>
                        </a:rPr>
                        <a:t>8%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Market, liquidity and regime measures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EF7F1B"/>
                          </a:solidFill>
                          <a:latin typeface="Trebuchet MS"/>
                        </a:rPr>
                        <a:t>STATS 03 · 04 · 05 · 06 · 07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11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B1F2E"/>
                          </a:solidFill>
                          <a:latin typeface="Trebuchet MS"/>
                        </a:rPr>
                        <a:t>3,274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5C6478"/>
                          </a:solidFill>
                          <a:latin typeface="Trebuchet MS"/>
                        </a:rPr>
                        <a:t>7%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Detection, risk scoring, state machine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EF7F1B"/>
                          </a:solidFill>
                          <a:latin typeface="Trebuchet MS"/>
                        </a:rPr>
                        <a:t>STATS 08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10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B1F2E"/>
                          </a:solidFill>
                          <a:latin typeface="Trebuchet MS"/>
                        </a:rPr>
                        <a:t>2,555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5C6478"/>
                          </a:solidFill>
                          <a:latin typeface="Trebuchet MS"/>
                        </a:rPr>
                        <a:t>6%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Evaluation, statistics and explanation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EF7F1B"/>
                          </a:solidFill>
                          <a:latin typeface="Trebuchet MS"/>
                        </a:rPr>
                        <a:t>STATS 09 – 16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18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B1F2E"/>
                          </a:solidFill>
                          <a:latin typeface="Trebuchet MS"/>
                        </a:rPr>
                        <a:t>7,043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5C6478"/>
                          </a:solidFill>
                          <a:latin typeface="Trebuchet MS"/>
                        </a:rPr>
                        <a:t>16%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Module runners and execution service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EF7F1B"/>
                          </a:solidFill>
                          <a:latin typeface="Trebuchet MS"/>
                        </a:rPr>
                        <a:t>all 16 modules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13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B1F2E"/>
                          </a:solidFill>
                          <a:latin typeface="Trebuchet MS"/>
                        </a:rPr>
                        <a:t>7,042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5C6478"/>
                          </a:solidFill>
                          <a:latin typeface="Trebuchet MS"/>
                        </a:rPr>
                        <a:t>16%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Web interface and result pages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EF7F1B"/>
                          </a:solidFill>
                          <a:latin typeface="Trebuchet MS"/>
                        </a:rPr>
                        <a:t>all 16 modules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62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B1F2E"/>
                          </a:solidFill>
                          <a:latin typeface="Trebuchet MS"/>
                        </a:rPr>
                        <a:t>19,832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5C6478"/>
                          </a:solidFill>
                          <a:latin typeface="Trebuchet MS"/>
                        </a:rPr>
                        <a:t>45%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Automated test suites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EF7F1B"/>
                          </a:solidFill>
                          <a:latin typeface="Trebuchet MS"/>
                        </a:rPr>
                        <a:t>STATS 09 (leakage) · 04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3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B1F2E"/>
                          </a:solidFill>
                          <a:latin typeface="Trebuchet MS"/>
                        </a:rPr>
                        <a:t>688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5C6478"/>
                          </a:solidFill>
                          <a:latin typeface="Trebuchet MS"/>
                        </a:rPr>
                        <a:t>2%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82296" marR="82296" marT="27432" marB="27432" anchor="ctr">
                    <a:lnB w="9525" cap="flat" cmpd="sng" algn="ctr">
                      <a:solidFill>
                        <a:srgbClr val="C9CEDC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TOTAL WRITTEN FOR THIS PROJECT</a:t>
                      </a:r>
                    </a:p>
                  </a:txBody>
                  <a:tcPr marL="82296" marR="82296" marT="27432" marB="27432" anchor="ctr">
                    <a:lnT w="12700" cap="flat" cmpd="sng" algn="ctr">
                      <a:solidFill>
                        <a:srgbClr val="313D71"/>
                      </a:solidFill>
                    </a:lnT>
                    <a:lnB w="12700" cap="flat" cmpd="sng" algn="ctr">
                      <a:solidFill>
                        <a:srgbClr val="313D7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82296" marR="82296" marT="27432" marB="27432" anchor="ctr">
                    <a:lnT w="12700" cap="flat" cmpd="sng" algn="ctr">
                      <a:solidFill>
                        <a:srgbClr val="313D71"/>
                      </a:solidFill>
                    </a:lnT>
                    <a:lnB w="12700" cap="flat" cmpd="sng" algn="ctr">
                      <a:solidFill>
                        <a:srgbClr val="313D7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129</a:t>
                      </a:r>
                    </a:p>
                  </a:txBody>
                  <a:tcPr marL="82296" marR="82296" marT="27432" marB="27432" anchor="ctr">
                    <a:lnT w="12700" cap="flat" cmpd="sng" algn="ctr">
                      <a:solidFill>
                        <a:srgbClr val="313D71"/>
                      </a:solidFill>
                    </a:lnT>
                    <a:lnB w="12700" cap="flat" cmpd="sng" algn="ctr">
                      <a:solidFill>
                        <a:srgbClr val="313D7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EF7F1B"/>
                          </a:solidFill>
                          <a:latin typeface="Trebuchet MS"/>
                        </a:rPr>
                        <a:t>43,827</a:t>
                      </a:r>
                    </a:p>
                  </a:txBody>
                  <a:tcPr marL="82296" marR="82296" marT="27432" marB="27432" anchor="ctr">
                    <a:lnT w="12700" cap="flat" cmpd="sng" algn="ctr">
                      <a:solidFill>
                        <a:srgbClr val="313D71"/>
                      </a:solidFill>
                    </a:lnT>
                    <a:lnB w="12700" cap="flat" cmpd="sng" algn="ctr">
                      <a:solidFill>
                        <a:srgbClr val="313D7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13D71"/>
                          </a:solidFill>
                          <a:latin typeface="Trebuchet MS"/>
                        </a:rPr>
                        <a:t>100%</a:t>
                      </a:r>
                    </a:p>
                  </a:txBody>
                  <a:tcPr marL="82296" marR="82296" marT="27432" marB="27432" anchor="ctr">
                    <a:lnT w="12700" cap="flat" cmpd="sng" algn="ctr">
                      <a:solidFill>
                        <a:srgbClr val="313D71"/>
                      </a:solidFill>
                    </a:lnT>
                    <a:lnB w="12700" cap="flat" cmpd="sng" algn="ctr">
                      <a:solidFill>
                        <a:srgbClr val="313D7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9" b="0" i="1">
                          <a:solidFill>
                            <a:srgbClr val="5C6478"/>
                          </a:solidFill>
                          <a:latin typeface="Trebuchet MS"/>
                        </a:rPr>
                        <a:t>counted from the repository, excluding generated files and libraries</a:t>
                      </a:r>
                    </a:p>
                  </a:txBody>
                  <a:tcPr marL="82296" marR="82296" marT="27432" marB="27432" anchor="ctr">
                    <a:lnT w="12700" cap="flat" cmpd="sng" algn="ctr">
                      <a:solidFill>
                        <a:srgbClr val="313D71"/>
                      </a:solidFill>
                    </a:lnT>
                    <a:lnB w="12700" cap="flat" cmpd="sng" algn="ctr">
                      <a:solidFill>
                        <a:srgbClr val="313D71"/>
                      </a:solidFill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168" name="Rectangle 167"/>
          <p:cNvSpPr/>
          <p:nvPr/>
        </p:nvSpPr>
        <p:spPr>
          <a:xfrm>
            <a:off x="7266736" y="2148840"/>
            <a:ext cx="4279392" cy="7315"/>
          </a:xfrm>
          <a:prstGeom prst="rect">
            <a:avLst/>
          </a:prstGeom>
          <a:solidFill>
            <a:srgbClr val="C2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66736" y="2441448"/>
            <a:ext cx="4279392" cy="7315"/>
          </a:xfrm>
          <a:prstGeom prst="rect">
            <a:avLst/>
          </a:prstGeom>
          <a:solidFill>
            <a:srgbClr val="C2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66736" y="2734056"/>
            <a:ext cx="4279392" cy="7315"/>
          </a:xfrm>
          <a:prstGeom prst="rect">
            <a:avLst/>
          </a:prstGeom>
          <a:solidFill>
            <a:srgbClr val="C2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66736" y="3026664"/>
            <a:ext cx="4279392" cy="7315"/>
          </a:xfrm>
          <a:prstGeom prst="rect">
            <a:avLst/>
          </a:prstGeom>
          <a:solidFill>
            <a:srgbClr val="C2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66736" y="3319272"/>
            <a:ext cx="4279392" cy="7315"/>
          </a:xfrm>
          <a:prstGeom prst="rect">
            <a:avLst/>
          </a:prstGeom>
          <a:solidFill>
            <a:srgbClr val="C2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266736" y="3611880"/>
            <a:ext cx="4279392" cy="7315"/>
          </a:xfrm>
          <a:prstGeom prst="rect">
            <a:avLst/>
          </a:prstGeom>
          <a:solidFill>
            <a:srgbClr val="C2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266736" y="3904488"/>
            <a:ext cx="4279392" cy="7315"/>
          </a:xfrm>
          <a:prstGeom prst="rect">
            <a:avLst/>
          </a:prstGeom>
          <a:solidFill>
            <a:srgbClr val="C2C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481888" y="4480559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5C6478"/>
                </a:solidFill>
                <a:latin typeface="Trebuchet MS"/>
              </a:rPr>
              <a:t>PROJECT TIMELINE  —  every date below is the timestamp the run itself wrote into its own output file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286560" y="4872837"/>
            <a:ext cx="9619488" cy="20116"/>
          </a:xfrm>
          <a:prstGeom prst="rect">
            <a:avLst/>
          </a:prstGeom>
          <a:solidFill>
            <a:srgbClr val="31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217980" y="4814316"/>
            <a:ext cx="137160" cy="137160"/>
          </a:xfrm>
          <a:prstGeom prst="ellipse">
            <a:avLst/>
          </a:prstGeom>
          <a:solidFill>
            <a:srgbClr val="313D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30656" y="4626864"/>
            <a:ext cx="1511807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13D71"/>
                </a:solidFill>
                <a:latin typeface="Trebuchet MS"/>
              </a:rPr>
              <a:t>18 Aug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30656" y="5010912"/>
            <a:ext cx="1511807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30" b="0" i="0">
                <a:solidFill>
                  <a:srgbClr val="5C6478"/>
                </a:solidFill>
                <a:latin typeface="Trebuchet MS"/>
              </a:rPr>
              <a:t>All 32 model versions run</a:t>
            </a:r>
          </a:p>
        </p:txBody>
      </p:sp>
      <p:sp>
        <p:nvSpPr>
          <p:cNvPr id="180" name="Oval 179"/>
          <p:cNvSpPr/>
          <p:nvPr/>
        </p:nvSpPr>
        <p:spPr>
          <a:xfrm>
            <a:off x="2821228" y="4814316"/>
            <a:ext cx="137160" cy="137160"/>
          </a:xfrm>
          <a:prstGeom prst="ellipse">
            <a:avLst/>
          </a:prstGeom>
          <a:solidFill>
            <a:srgbClr val="313D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2133904" y="4626864"/>
            <a:ext cx="1511807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13D71"/>
                </a:solidFill>
                <a:latin typeface="Trebuchet MS"/>
              </a:rPr>
              <a:t>19 Aug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133904" y="5010912"/>
            <a:ext cx="1511807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30" b="0" i="0">
                <a:solidFill>
                  <a:srgbClr val="5C6478"/>
                </a:solidFill>
                <a:latin typeface="Trebuchet MS"/>
              </a:rPr>
              <a:t>Result bundle built: 48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30" b="0" i="0">
                <a:solidFill>
                  <a:srgbClr val="5C6478"/>
                </a:solidFill>
                <a:latin typeface="Trebuchet MS"/>
              </a:rPr>
              <a:t>figures, 19 tables</a:t>
            </a:r>
          </a:p>
        </p:txBody>
      </p:sp>
      <p:sp>
        <p:nvSpPr>
          <p:cNvPr id="183" name="Oval 182"/>
          <p:cNvSpPr/>
          <p:nvPr/>
        </p:nvSpPr>
        <p:spPr>
          <a:xfrm>
            <a:off x="4424476" y="4814316"/>
            <a:ext cx="137160" cy="137160"/>
          </a:xfrm>
          <a:prstGeom prst="ellipse">
            <a:avLst/>
          </a:prstGeom>
          <a:solidFill>
            <a:srgbClr val="313D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737152" y="4626864"/>
            <a:ext cx="1511807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13D71"/>
                </a:solidFill>
                <a:latin typeface="Trebuchet MS"/>
              </a:rPr>
              <a:t>19–22 Aug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737152" y="5010912"/>
            <a:ext cx="1511807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30" b="0" i="0">
                <a:solidFill>
                  <a:srgbClr val="5C6478"/>
                </a:solidFill>
                <a:latin typeface="Trebuchet MS"/>
              </a:rPr>
              <a:t>Analysis modules wired up and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30" b="0" i="0">
                <a:solidFill>
                  <a:srgbClr val="5C6478"/>
                </a:solidFill>
                <a:latin typeface="Trebuchet MS"/>
              </a:rPr>
              <a:t>run repeatedly</a:t>
            </a:r>
          </a:p>
        </p:txBody>
      </p:sp>
      <p:sp>
        <p:nvSpPr>
          <p:cNvPr id="186" name="Oval 185"/>
          <p:cNvSpPr/>
          <p:nvPr/>
        </p:nvSpPr>
        <p:spPr>
          <a:xfrm>
            <a:off x="6027724" y="4814316"/>
            <a:ext cx="137160" cy="137160"/>
          </a:xfrm>
          <a:prstGeom prst="ellipse">
            <a:avLst/>
          </a:prstGeom>
          <a:solidFill>
            <a:srgbClr val="313D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340400" y="4626864"/>
            <a:ext cx="1511807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13D71"/>
                </a:solidFill>
                <a:latin typeface="Trebuchet MS"/>
              </a:rPr>
              <a:t>23 Aug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340400" y="5010912"/>
            <a:ext cx="1511807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30" b="0" i="0">
                <a:solidFill>
                  <a:srgbClr val="5C6478"/>
                </a:solidFill>
                <a:latin typeface="Trebuchet MS"/>
              </a:rPr>
              <a:t>Interface data bundles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30" b="0" i="0">
                <a:solidFill>
                  <a:srgbClr val="5C6478"/>
                </a:solidFill>
                <a:latin typeface="Trebuchet MS"/>
              </a:rPr>
              <a:t>generated</a:t>
            </a:r>
          </a:p>
        </p:txBody>
      </p:sp>
      <p:sp>
        <p:nvSpPr>
          <p:cNvPr id="189" name="Oval 188"/>
          <p:cNvSpPr/>
          <p:nvPr/>
        </p:nvSpPr>
        <p:spPr>
          <a:xfrm>
            <a:off x="7630972" y="4814316"/>
            <a:ext cx="137160" cy="137160"/>
          </a:xfrm>
          <a:prstGeom prst="ellipse">
            <a:avLst/>
          </a:prstGeom>
          <a:solidFill>
            <a:srgbClr val="313D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943648" y="4626864"/>
            <a:ext cx="1511807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13D71"/>
                </a:solidFill>
                <a:latin typeface="Trebuchet MS"/>
              </a:rPr>
              <a:t>25 Aug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943648" y="5010912"/>
            <a:ext cx="1511807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30" b="0" i="0">
                <a:solidFill>
                  <a:srgbClr val="5C6478"/>
                </a:solidFill>
                <a:latin typeface="Trebuchet MS"/>
              </a:rPr>
              <a:t>Market-foundation measures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30" b="0" i="0">
                <a:solidFill>
                  <a:srgbClr val="5C6478"/>
                </a:solidFill>
                <a:latin typeface="Trebuchet MS"/>
              </a:rPr>
              <a:t>and alarm levels built</a:t>
            </a:r>
          </a:p>
        </p:txBody>
      </p:sp>
      <p:sp>
        <p:nvSpPr>
          <p:cNvPr id="192" name="Oval 191"/>
          <p:cNvSpPr/>
          <p:nvPr/>
        </p:nvSpPr>
        <p:spPr>
          <a:xfrm>
            <a:off x="9234220" y="4814316"/>
            <a:ext cx="137160" cy="137160"/>
          </a:xfrm>
          <a:prstGeom prst="ellipse">
            <a:avLst/>
          </a:prstGeom>
          <a:solidFill>
            <a:srgbClr val="313D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546896" y="4626864"/>
            <a:ext cx="1511807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13D71"/>
                </a:solidFill>
                <a:latin typeface="Trebuchet MS"/>
              </a:rPr>
              <a:t>27 Aug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546896" y="5010912"/>
            <a:ext cx="1511807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30" b="0" i="0">
                <a:solidFill>
                  <a:srgbClr val="5C6478"/>
                </a:solidFill>
                <a:latin typeface="Trebuchet MS"/>
              </a:rPr>
              <a:t>Statistics-only version: all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30" b="0" i="0">
                <a:solidFill>
                  <a:srgbClr val="5C6478"/>
                </a:solidFill>
                <a:latin typeface="Trebuchet MS"/>
              </a:rPr>
              <a:t>modules re-run</a:t>
            </a:r>
          </a:p>
        </p:txBody>
      </p:sp>
      <p:sp>
        <p:nvSpPr>
          <p:cNvPr id="195" name="Oval 194"/>
          <p:cNvSpPr/>
          <p:nvPr/>
        </p:nvSpPr>
        <p:spPr>
          <a:xfrm>
            <a:off x="10837468" y="4814316"/>
            <a:ext cx="137160" cy="137160"/>
          </a:xfrm>
          <a:prstGeom prst="ellipse">
            <a:avLst/>
          </a:prstGeom>
          <a:solidFill>
            <a:srgbClr val="EF7F1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150144" y="4626864"/>
            <a:ext cx="1511807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F7F1B"/>
                </a:solidFill>
                <a:latin typeface="Trebuchet MS"/>
              </a:rPr>
              <a:t>29 Aug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150144" y="5010912"/>
            <a:ext cx="1511807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30" b="1" i="0">
                <a:solidFill>
                  <a:srgbClr val="1B1F2E"/>
                </a:solidFill>
                <a:latin typeface="Trebuchet MS"/>
              </a:rPr>
              <a:t>This review: re-run, tests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30" b="1" i="0">
                <a:solidFill>
                  <a:srgbClr val="1B1F2E"/>
                </a:solidFill>
                <a:latin typeface="Trebuchet MS"/>
              </a:rPr>
              <a:t>passed, interface rebuilt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481888" y="5449824"/>
            <a:ext cx="11228832" cy="438912"/>
          </a:xfrm>
          <a:prstGeom prst="roundRect">
            <a:avLst>
              <a:gd name="adj" fmla="val 10416"/>
            </a:avLst>
          </a:prstGeom>
          <a:solidFill>
            <a:srgbClr val="FBF3E8"/>
          </a:solidFill>
          <a:ln w="15240">
            <a:solidFill>
              <a:srgbClr val="EF7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83056" y="5513832"/>
            <a:ext cx="10826496" cy="158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1B1F2E"/>
                </a:solidFill>
                <a:latin typeface="Trebuchet MS"/>
              </a:rPr>
              <a:t>The last column is deliberately blank. This snapshot of the project carries no version-control history, so per-member line counts, hours and dates cannot be read from it — and have not been estimated.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83056" y="5687568"/>
            <a:ext cx="10826496" cy="158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5C6478"/>
                </a:solidFill>
                <a:latin typeface="Trebuchet MS"/>
              </a:rPr>
              <a:t>433 module executions are logged across the ten days above (logs/stats/*.jsonl); the work packages, file counts and line counts are measured directly from the repository.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85cdd0013_0_65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Modules Completed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g3785cdd0013_0_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785cdd0013_0_65"/>
          <p:cNvSpPr txBox="1"/>
          <p:nvPr/>
        </p:nvSpPr>
        <p:spPr>
          <a:xfrm>
            <a:off x="76201" y="63110"/>
            <a:ext cx="576072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Market Manipulation Using Multi-Source Signals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785cdd0013_0_6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176" name="Rounded Rectangle 175"/>
          <p:cNvSpPr/>
          <p:nvPr/>
        </p:nvSpPr>
        <p:spPr>
          <a:xfrm>
            <a:off x="481888" y="1627632"/>
            <a:ext cx="3486911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651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81888" y="1627632"/>
            <a:ext cx="3486911" cy="274320"/>
          </a:xfrm>
          <a:prstGeom prst="rect">
            <a:avLst/>
          </a:prstGeom>
          <a:solidFill>
            <a:srgbClr val="313D71"/>
          </a:solidFill>
          <a:ln w="1270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09904" y="1627632"/>
            <a:ext cx="3249167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Trebuchet MS"/>
              </a:rPr>
              <a:t>1   ACTUAL INPUT</a:t>
            </a:r>
          </a:p>
        </p:txBody>
      </p:sp>
      <p:sp>
        <p:nvSpPr>
          <p:cNvPr id="179" name="Right Arrow 178"/>
          <p:cNvSpPr/>
          <p:nvPr/>
        </p:nvSpPr>
        <p:spPr>
          <a:xfrm>
            <a:off x="4032808" y="2249424"/>
            <a:ext cx="256032" cy="146304"/>
          </a:xfrm>
          <a:prstGeom prst="rightArrow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4352848" y="1627632"/>
            <a:ext cx="3486911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651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4352848" y="1627632"/>
            <a:ext cx="3486911" cy="274320"/>
          </a:xfrm>
          <a:prstGeom prst="rect">
            <a:avLst/>
          </a:prstGeom>
          <a:solidFill>
            <a:srgbClr val="313D71"/>
          </a:solidFill>
          <a:ln w="1270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480864" y="1627632"/>
            <a:ext cx="3249167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Trebuchet MS"/>
              </a:rPr>
              <a:t>2   ACTUAL EXECUTION</a:t>
            </a:r>
          </a:p>
        </p:txBody>
      </p:sp>
      <p:sp>
        <p:nvSpPr>
          <p:cNvPr id="183" name="Right Arrow 182"/>
          <p:cNvSpPr/>
          <p:nvPr/>
        </p:nvSpPr>
        <p:spPr>
          <a:xfrm>
            <a:off x="7903768" y="2249424"/>
            <a:ext cx="256032" cy="146304"/>
          </a:xfrm>
          <a:prstGeom prst="rightArrow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8223808" y="1627632"/>
            <a:ext cx="3486911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651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23808" y="1627632"/>
            <a:ext cx="3486911" cy="274320"/>
          </a:xfrm>
          <a:prstGeom prst="rect">
            <a:avLst/>
          </a:prstGeom>
          <a:solidFill>
            <a:srgbClr val="313D71"/>
          </a:solidFill>
          <a:ln w="1270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351824" y="1627632"/>
            <a:ext cx="3249167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Trebuchet MS"/>
              </a:rPr>
              <a:t>3   ACTUAL OUTPUT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28192" y="1993392"/>
            <a:ext cx="321259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80" b="1" i="0">
                <a:solidFill>
                  <a:srgbClr val="1B1F2E"/>
                </a:solidFill>
                <a:latin typeface="Trebuchet MS"/>
              </a:rPr>
              <a:t>Real NSE daily prices and trading activity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80" b="0" i="0">
                <a:solidFill>
                  <a:srgbClr val="5C6478"/>
                </a:solidFill>
                <a:latin typeface="Trebuchet MS"/>
              </a:rPr>
              <a:t>16,558 share-days  ·  182 shares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80" b="0" i="0">
                <a:solidFill>
                  <a:srgbClr val="5C6478"/>
                </a:solidFill>
                <a:latin typeface="Trebuchet MS"/>
              </a:rPr>
              <a:t>7 April 2015  to  14 August 2026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80" b="0" i="0">
                <a:solidFill>
                  <a:srgbClr val="5C6478"/>
                </a:solidFill>
                <a:latin typeface="Trebuchet MS"/>
              </a:rPr>
              <a:t>Scored here: 3,855 held-out share-days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80" b="0" i="0">
                <a:solidFill>
                  <a:srgbClr val="5C6478"/>
                </a:solidFill>
                <a:latin typeface="Trebuchet MS"/>
              </a:rPr>
              <a:t>940 of them are known unusual episodes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4444288" y="1975104"/>
            <a:ext cx="3304031" cy="621792"/>
          </a:xfrm>
          <a:prstGeom prst="roundRect">
            <a:avLst>
              <a:gd name="adj" fmla="val 5882"/>
            </a:avLst>
          </a:prstGeom>
          <a:solidFill>
            <a:srgbClr val="1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4535728" y="2029968"/>
            <a:ext cx="3157728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90" b="0" i="0">
                <a:solidFill>
                  <a:srgbClr val="C8F0C8"/>
                </a:solidFill>
                <a:latin typeface="Consolas"/>
              </a:rPr>
              <a:t>&gt; python scripts/run_module.py --module STATS-10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90" b="0" i="0">
                <a:solidFill>
                  <a:srgbClr val="C8F0C8"/>
                </a:solidFill>
                <a:latin typeface="Consolas"/>
              </a:rPr>
              <a:t>  OK  (0.6s)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90" b="0" i="0">
                <a:solidFill>
                  <a:srgbClr val="C8F0C8"/>
                </a:solidFill>
                <a:latin typeface="Consolas"/>
              </a:rPr>
              <a:t>  n=3855  thr=0.3510  TP=821  TN=2862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90" b="0" i="0">
                <a:solidFill>
                  <a:srgbClr val="C8F0C8"/>
                </a:solidFill>
                <a:latin typeface="Consolas"/>
              </a:rPr>
              <a:t>  FP=53  FN=119  acc=0.9554  MCC=0.8771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499152" y="2688336"/>
            <a:ext cx="3212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790" b="0" i="0">
                <a:solidFill>
                  <a:srgbClr val="5C6478"/>
                </a:solidFill>
                <a:latin typeface="Trebuchet MS"/>
              </a:rPr>
              <a:t>Run again for this review on 29 Aug 2026  ·  exit code 0.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790" b="0" i="0">
                <a:solidFill>
                  <a:srgbClr val="5C6478"/>
                </a:solidFill>
                <a:latin typeface="Trebuchet MS"/>
              </a:rPr>
              <a:t>The same module also answers over HTTP and in the browser.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284512" y="1920240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0" i="0">
                <a:solidFill>
                  <a:srgbClr val="5C6478"/>
                </a:solidFill>
                <a:latin typeface="Trebuchet MS"/>
              </a:rPr>
              <a:t>SYSTEM SAID</a:t>
            </a:r>
          </a:p>
        </p:txBody>
      </p:sp>
      <p:graphicFrame>
        <p:nvGraphicFramePr>
          <p:cNvPr id="192" name="Table 191"/>
          <p:cNvGraphicFramePr>
            <a:graphicFrameLocks noGrp="1"/>
          </p:cNvGraphicFramePr>
          <p:nvPr/>
        </p:nvGraphicFramePr>
        <p:xfrm>
          <a:off x="9284512" y="2048256"/>
          <a:ext cx="1828800" cy="5669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914400"/>
              </a:tblGrid>
              <a:tr h="14630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60" b="0" i="0">
                          <a:solidFill>
                            <a:srgbClr val="5C6478"/>
                          </a:solidFill>
                          <a:latin typeface="Trebuchet MS"/>
                        </a:rPr>
                        <a:t>unusual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60" b="0" i="0">
                          <a:solidFill>
                            <a:srgbClr val="5C6478"/>
                          </a:solidFill>
                          <a:latin typeface="Trebuchet MS"/>
                        </a:rPr>
                        <a:t>normal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4E7A4E"/>
                          </a:solidFill>
                          <a:latin typeface="Trebuchet MS"/>
                        </a:rPr>
                        <a:t>821</a:t>
                      </a:r>
                    </a:p>
                  </a:txBody>
                  <a:tcPr marL="18288" marR="18288" marT="10972" marB="10972" anchor="ctr">
                    <a:lnL w="12700" cap="flat" cmpd="sng" algn="ctr">
                      <a:solidFill>
                        <a:srgbClr val="4E7A4E"/>
                      </a:solidFill>
                    </a:lnL>
                    <a:lnR w="12700" cap="flat" cmpd="sng" algn="ctr">
                      <a:solidFill>
                        <a:srgbClr val="4E7A4E"/>
                      </a:solidFill>
                    </a:lnR>
                    <a:lnT w="12700" cap="flat" cmpd="sng" algn="ctr">
                      <a:solidFill>
                        <a:srgbClr val="4E7A4E"/>
                      </a:solidFill>
                    </a:lnT>
                    <a:lnB w="12700" cap="flat" cmpd="sng" algn="ctr">
                      <a:solidFill>
                        <a:srgbClr val="4E7A4E"/>
                      </a:solidFill>
                    </a:lnB>
                    <a:solidFill>
                      <a:srgbClr val="E4EE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B4472F"/>
                          </a:solidFill>
                          <a:latin typeface="Trebuchet MS"/>
                        </a:rPr>
                        <a:t>119</a:t>
                      </a:r>
                    </a:p>
                  </a:txBody>
                  <a:tcPr marL="18288" marR="18288" marT="10972" marB="10972" anchor="ctr">
                    <a:lnL w="12700" cap="flat" cmpd="sng" algn="ctr">
                      <a:solidFill>
                        <a:srgbClr val="B4472F"/>
                      </a:solidFill>
                    </a:lnL>
                    <a:lnR w="12700" cap="flat" cmpd="sng" algn="ctr">
                      <a:solidFill>
                        <a:srgbClr val="B4472F"/>
                      </a:solidFill>
                    </a:lnR>
                    <a:lnT w="12700" cap="flat" cmpd="sng" algn="ctr">
                      <a:solidFill>
                        <a:srgbClr val="B4472F"/>
                      </a:solidFill>
                    </a:lnT>
                    <a:lnB w="12700" cap="flat" cmpd="sng" algn="ctr">
                      <a:solidFill>
                        <a:srgbClr val="B4472F"/>
                      </a:solidFill>
                    </a:lnB>
                    <a:solidFill>
                      <a:srgbClr val="FBE7E4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B4472F"/>
                          </a:solidFill>
                          <a:latin typeface="Trebuchet MS"/>
                        </a:rPr>
                        <a:t>53</a:t>
                      </a:r>
                    </a:p>
                  </a:txBody>
                  <a:tcPr marL="18288" marR="18288" marT="10972" marB="10972" anchor="ctr">
                    <a:lnL w="12700" cap="flat" cmpd="sng" algn="ctr">
                      <a:solidFill>
                        <a:srgbClr val="B4472F"/>
                      </a:solidFill>
                    </a:lnL>
                    <a:lnR w="12700" cap="flat" cmpd="sng" algn="ctr">
                      <a:solidFill>
                        <a:srgbClr val="B4472F"/>
                      </a:solidFill>
                    </a:lnR>
                    <a:lnT w="12700" cap="flat" cmpd="sng" algn="ctr">
                      <a:solidFill>
                        <a:srgbClr val="B4472F"/>
                      </a:solidFill>
                    </a:lnT>
                    <a:lnB w="12700" cap="flat" cmpd="sng" algn="ctr">
                      <a:solidFill>
                        <a:srgbClr val="B4472F"/>
                      </a:solidFill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4E7A4E"/>
                          </a:solidFill>
                          <a:latin typeface="Trebuchet MS"/>
                        </a:rPr>
                        <a:t>2,862</a:t>
                      </a:r>
                    </a:p>
                  </a:txBody>
                  <a:tcPr marL="18288" marR="18288" marT="10972" marB="10972" anchor="ctr">
                    <a:lnL w="12700" cap="flat" cmpd="sng" algn="ctr">
                      <a:solidFill>
                        <a:srgbClr val="4E7A4E"/>
                      </a:solidFill>
                    </a:lnL>
                    <a:lnR w="12700" cap="flat" cmpd="sng" algn="ctr">
                      <a:solidFill>
                        <a:srgbClr val="4E7A4E"/>
                      </a:solidFill>
                    </a:lnR>
                    <a:lnT w="12700" cap="flat" cmpd="sng" algn="ctr">
                      <a:solidFill>
                        <a:srgbClr val="4E7A4E"/>
                      </a:solidFill>
                    </a:lnT>
                    <a:lnB w="12700" cap="flat" cmpd="sng" algn="ctr">
                      <a:solidFill>
                        <a:srgbClr val="4E7A4E"/>
                      </a:solidFill>
                    </a:lnB>
                    <a:solidFill>
                      <a:srgbClr val="E4EEE4"/>
                    </a:solidFill>
                  </a:tcPr>
                </a:tc>
              </a:tr>
            </a:tbl>
          </a:graphicData>
        </a:graphic>
      </p:graphicFrame>
      <p:sp>
        <p:nvSpPr>
          <p:cNvPr id="193" name="TextBox 192"/>
          <p:cNvSpPr txBox="1"/>
          <p:nvPr/>
        </p:nvSpPr>
        <p:spPr>
          <a:xfrm>
            <a:off x="8315248" y="2194560"/>
            <a:ext cx="89611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760" b="0" i="0">
                <a:solidFill>
                  <a:srgbClr val="5C6478"/>
                </a:solidFill>
                <a:latin typeface="Trebuchet MS"/>
              </a:rPr>
              <a:t>Really unusual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315248" y="2404872"/>
            <a:ext cx="89611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760" b="0" i="0">
                <a:solidFill>
                  <a:srgbClr val="5C6478"/>
                </a:solidFill>
                <a:latin typeface="Trebuchet MS"/>
              </a:rPr>
              <a:t>Really normal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370112" y="2688336"/>
            <a:ext cx="3212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00" b="1" i="0">
                <a:solidFill>
                  <a:srgbClr val="313D71"/>
                </a:solidFill>
                <a:latin typeface="Trebuchet MS"/>
              </a:rPr>
              <a:t>Found 87.3% of the unusual days, and 94.0% of the days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00" b="1" i="0">
                <a:solidFill>
                  <a:srgbClr val="313D71"/>
                </a:solidFill>
                <a:latin typeface="Trebuchet MS"/>
              </a:rPr>
              <a:t>it flagged really were unusual.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481888" y="3145536"/>
            <a:ext cx="3840480" cy="2432304"/>
          </a:xfrm>
          <a:prstGeom prst="roundRect">
            <a:avLst>
              <a:gd name="adj" fmla="val 1879"/>
            </a:avLst>
          </a:prstGeom>
          <a:solidFill>
            <a:srgbClr val="FFFFFF"/>
          </a:solidFill>
          <a:ln w="15240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28192" y="3209544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EXPERIMENTAL RESULT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28192" y="3374136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313D71"/>
                </a:solidFill>
                <a:latin typeface="Trebuchet MS"/>
              </a:rPr>
              <a:t>How cleanly it separates unusual days</a:t>
            </a:r>
          </a:p>
        </p:txBody>
      </p:sp>
      <p:graphicFrame>
        <p:nvGraphicFramePr>
          <p:cNvPr id="199" name="Chart 198"/>
          <p:cNvGraphicFramePr>
            <a:graphicFrameLocks noGrp="1"/>
          </p:cNvGraphicFramePr>
          <p:nvPr/>
        </p:nvGraphicFramePr>
        <p:xfrm>
          <a:off x="555040" y="3566160"/>
          <a:ext cx="3657600" cy="151790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0" name="TextBox 199"/>
          <p:cNvSpPr txBox="1"/>
          <p:nvPr/>
        </p:nvSpPr>
        <p:spPr>
          <a:xfrm>
            <a:off x="628192" y="5120640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5C6478"/>
                </a:solidFill>
                <a:latin typeface="Trebuchet MS"/>
              </a:rPr>
              <a:t>Across → share of unusual days found.   Up ↑ share of alerts that were right.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5C6478"/>
                </a:solidFill>
                <a:latin typeface="Trebuchet MS"/>
              </a:rPr>
              <a:t>Adding market conditions and spill-over lifts quality 0.816 → 0.941 (chance 0.244).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4450384" y="3145536"/>
            <a:ext cx="3291840" cy="2432304"/>
          </a:xfrm>
          <a:prstGeom prst="roundRect">
            <a:avLst>
              <a:gd name="adj" fmla="val 1879"/>
            </a:avLst>
          </a:prstGeom>
          <a:solidFill>
            <a:srgbClr val="FFFFFF"/>
          </a:solidFill>
          <a:ln w="15240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596688" y="3209544"/>
            <a:ext cx="30175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VALIDATION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596688" y="337413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313D71"/>
                </a:solidFill>
                <a:latin typeface="Trebuchet MS"/>
              </a:rPr>
              <a:t>Does it match what really happened?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596688" y="3584448"/>
            <a:ext cx="30175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5C6478"/>
                </a:solidFill>
                <a:latin typeface="Trebuchet MS"/>
              </a:rPr>
              <a:t>% of sessions that hit the exchange's price limit</a:t>
            </a:r>
          </a:p>
        </p:txBody>
      </p:sp>
      <p:graphicFrame>
        <p:nvGraphicFramePr>
          <p:cNvPr id="205" name="Chart 204"/>
          <p:cNvGraphicFramePr>
            <a:graphicFrameLocks noGrp="1"/>
          </p:cNvGraphicFramePr>
          <p:nvPr/>
        </p:nvGraphicFramePr>
        <p:xfrm>
          <a:off x="4541824" y="3675888"/>
          <a:ext cx="3072384" cy="80467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06" name="TextBox 205"/>
          <p:cNvSpPr txBox="1"/>
          <p:nvPr/>
        </p:nvSpPr>
        <p:spPr>
          <a:xfrm>
            <a:off x="4596688" y="451713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5C6478"/>
                </a:solidFill>
                <a:latin typeface="Trebuchet MS"/>
              </a:rPr>
              <a:t>2.5× more often — checked against the exchange's own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i="0">
                <a:solidFill>
                  <a:srgbClr val="5C6478"/>
                </a:solidFill>
                <a:latin typeface="Trebuchet MS"/>
              </a:rPr>
              <a:t>published price-limit records, not against our own labels.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596688" y="4809744"/>
            <a:ext cx="30175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VERIFICATION  —  did it compute what it promised?</a:t>
            </a:r>
          </a:p>
        </p:txBody>
      </p:sp>
      <p:graphicFrame>
        <p:nvGraphicFramePr>
          <p:cNvPr id="208" name="Table 207"/>
          <p:cNvGraphicFramePr>
            <a:graphicFrameLocks noGrp="1"/>
          </p:cNvGraphicFramePr>
          <p:nvPr/>
        </p:nvGraphicFramePr>
        <p:xfrm>
          <a:off x="4596688" y="4974336"/>
          <a:ext cx="3017520" cy="57058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17904"/>
                <a:gridCol w="749808"/>
                <a:gridCol w="749808"/>
              </a:tblGrid>
              <a:tr h="137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00" b="1" i="0">
                          <a:solidFill>
                            <a:srgbClr val="5C6478"/>
                          </a:solidFill>
                          <a:latin typeface="Trebuchet MS"/>
                        </a:rPr>
                        <a:t>PROMISED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00" b="1" i="0">
                          <a:solidFill>
                            <a:srgbClr val="4E7A4E"/>
                          </a:solidFill>
                          <a:latin typeface="Trebuchet MS"/>
                        </a:rPr>
                        <a:t>MEASURED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</a:tr>
              <a:tr h="144475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B1F2E"/>
                          </a:solidFill>
                          <a:latin typeface="Trebuchet MS"/>
                        </a:rPr>
                        <a:t>False alarms allowed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5C6478"/>
                          </a:solidFill>
                          <a:latin typeface="Trebuchet MS"/>
                        </a:rPr>
                        <a:t>1.000%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80" b="1" i="0">
                          <a:solidFill>
                            <a:srgbClr val="4E7A4E"/>
                          </a:solidFill>
                          <a:latin typeface="Trebuchet MS"/>
                        </a:rPr>
                        <a:t>0.898%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</a:tr>
              <a:tr h="144475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B1F2E"/>
                          </a:solidFill>
                          <a:latin typeface="Trebuchet MS"/>
                        </a:rPr>
                        <a:t>Re-run three days apart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5C6478"/>
                          </a:solidFill>
                          <a:latin typeface="Trebuchet MS"/>
                        </a:rPr>
                        <a:t>identical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80" b="1" i="0">
                          <a:solidFill>
                            <a:srgbClr val="4E7A4E"/>
                          </a:solidFill>
                          <a:latin typeface="Trebuchet MS"/>
                        </a:rPr>
                        <a:t>identical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</a:tr>
              <a:tr h="144475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1B1F2E"/>
                          </a:solidFill>
                          <a:latin typeface="Trebuchet MS"/>
                        </a:rPr>
                        <a:t>Quality score, recomputed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80" b="0" i="0">
                          <a:solidFill>
                            <a:srgbClr val="5C6478"/>
                          </a:solidFill>
                          <a:latin typeface="Trebuchet MS"/>
                        </a:rPr>
                        <a:t>0.941166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780" b="1" i="0">
                          <a:solidFill>
                            <a:srgbClr val="4E7A4E"/>
                          </a:solidFill>
                          <a:latin typeface="Trebuchet MS"/>
                        </a:rPr>
                        <a:t>0.941166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</a:tr>
            </a:tbl>
          </a:graphicData>
        </a:graphic>
      </p:graphicFrame>
      <p:sp>
        <p:nvSpPr>
          <p:cNvPr id="209" name="Rounded Rectangle 208"/>
          <p:cNvSpPr/>
          <p:nvPr/>
        </p:nvSpPr>
        <p:spPr>
          <a:xfrm>
            <a:off x="7870240" y="3145536"/>
            <a:ext cx="3840480" cy="2432304"/>
          </a:xfrm>
          <a:prstGeom prst="roundRect">
            <a:avLst>
              <a:gd name="adj" fmla="val 1879"/>
            </a:avLst>
          </a:prstGeom>
          <a:solidFill>
            <a:srgbClr val="FFFFFF"/>
          </a:solidFill>
          <a:ln w="15240">
            <a:solidFill>
              <a:srgbClr val="C9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8016544" y="3209544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PERFORMANCE ANALYSIS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016544" y="3374136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313D71"/>
                </a:solidFill>
                <a:latin typeface="Trebuchet MS"/>
              </a:rPr>
              <a:t>How well does it hold up?</a:t>
            </a:r>
          </a:p>
        </p:txBody>
      </p:sp>
      <p:graphicFrame>
        <p:nvGraphicFramePr>
          <p:cNvPr id="212" name="Table 211"/>
          <p:cNvGraphicFramePr>
            <a:graphicFrameLocks noGrp="1"/>
          </p:cNvGraphicFramePr>
          <p:nvPr/>
        </p:nvGraphicFramePr>
        <p:xfrm>
          <a:off x="8016544" y="3547872"/>
          <a:ext cx="3566159" cy="16404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54403"/>
                <a:gridCol w="873709"/>
                <a:gridCol w="499262"/>
                <a:gridCol w="338785"/>
              </a:tblGrid>
              <a:tr h="137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20" b="1" i="0">
                          <a:solidFill>
                            <a:srgbClr val="313D71"/>
                          </a:solidFill>
                          <a:latin typeface="Trebuchet MS"/>
                        </a:rPr>
                        <a:t>COMPARED WITH SIMPLER METHODS</a:t>
                      </a:r>
                    </a:p>
                  </a:txBody>
                  <a:tcPr marL="18288" marR="18288" marT="7315" marB="7315" anchor="b">
                    <a:lnB w="9525" cap="flat" cmpd="sng" algn="ctr">
                      <a:solidFill>
                        <a:srgbClr val="C9CED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7315" marB="7315" anchor="ctr">
                    <a:lnB w="9525" cap="flat" cmpd="sng" algn="ctr">
                      <a:solidFill>
                        <a:srgbClr val="C9CED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7315" marB="7315" anchor="ctr">
                    <a:lnB w="9525" cap="flat" cmpd="sng" algn="ctr">
                      <a:solidFill>
                        <a:srgbClr val="C9CED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7315" marB="7315" anchor="ctr">
                    <a:lnB w="9525" cap="flat" cmpd="sng" algn="ctr">
                      <a:solidFill>
                        <a:srgbClr val="C9CEDC"/>
                      </a:solidFill>
                    </a:lnB>
                    <a:noFill/>
                  </a:tcPr>
                </a:tc>
              </a:tr>
              <a:tr h="15361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B1F2E"/>
                          </a:solidFill>
                          <a:latin typeface="Trebuchet MS"/>
                        </a:rPr>
                        <a:t>No learning at all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660" b="0" i="0">
                          <a:solidFill>
                            <a:srgbClr val="313D71"/>
                          </a:solidFill>
                          <a:latin typeface="Consolas"/>
                        </a:rPr>
                        <a:t>███░░░░░░░░░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313D71"/>
                          </a:solidFill>
                          <a:latin typeface="Trebuchet MS"/>
                        </a:rPr>
                        <a:t>0.283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740" b="0" i="0">
                          <a:solidFill>
                            <a:srgbClr val="B4472F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</a:tr>
              <a:tr h="15361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B1F2E"/>
                          </a:solidFill>
                          <a:latin typeface="Trebuchet MS"/>
                        </a:rPr>
                        <a:t>Price &amp; activity alone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660" b="0" i="0">
                          <a:solidFill>
                            <a:srgbClr val="313D71"/>
                          </a:solidFill>
                          <a:latin typeface="Consolas"/>
                        </a:rPr>
                        <a:t>██████████░░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313D71"/>
                          </a:solidFill>
                          <a:latin typeface="Trebuchet MS"/>
                        </a:rPr>
                        <a:t>0.817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740" b="0" i="0">
                          <a:solidFill>
                            <a:srgbClr val="B4472F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</a:tr>
              <a:tr h="15361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B1F2E"/>
                          </a:solidFill>
                          <a:latin typeface="Trebuchet MS"/>
                        </a:rPr>
                        <a:t>All four kinds of evidence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660" b="0" i="0">
                          <a:solidFill>
                            <a:srgbClr val="EF7F1B"/>
                          </a:solidFill>
                          <a:latin typeface="Consolas"/>
                        </a:rPr>
                        <a:t>███████████░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313D71"/>
                          </a:solidFill>
                          <a:latin typeface="Trebuchet MS"/>
                        </a:rPr>
                        <a:t>0.941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740" b="0" i="0">
                          <a:solidFill>
                            <a:srgbClr val="B4472F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</a:tr>
              <a:tr h="137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20" b="1" i="0">
                          <a:solidFill>
                            <a:srgbClr val="313D71"/>
                          </a:solidFill>
                          <a:latin typeface="Trebuchet MS"/>
                        </a:rPr>
                        <a:t>WHEN THE INPUTS ARE DAMAGED</a:t>
                      </a:r>
                    </a:p>
                  </a:txBody>
                  <a:tcPr marL="18288" marR="18288" marT="7315" marB="7315" anchor="b">
                    <a:lnB w="9525" cap="flat" cmpd="sng" algn="ctr">
                      <a:solidFill>
                        <a:srgbClr val="C9CED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7315" marB="7315" anchor="ctr">
                    <a:lnB w="9525" cap="flat" cmpd="sng" algn="ctr">
                      <a:solidFill>
                        <a:srgbClr val="C9CED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7315" marB="7315" anchor="ctr">
                    <a:lnB w="9525" cap="flat" cmpd="sng" algn="ctr">
                      <a:solidFill>
                        <a:srgbClr val="C9CED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7315" marB="7315" anchor="ctr">
                    <a:lnB w="9525" cap="flat" cmpd="sng" algn="ctr">
                      <a:solidFill>
                        <a:srgbClr val="C9CEDC"/>
                      </a:solidFill>
                    </a:lnB>
                    <a:noFill/>
                  </a:tcPr>
                </a:tc>
              </a:tr>
              <a:tr h="15361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B1F2E"/>
                          </a:solidFill>
                          <a:latin typeface="Trebuchet MS"/>
                        </a:rPr>
                        <a:t>1 value in 10 goes missing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660" b="0" i="0">
                          <a:solidFill>
                            <a:srgbClr val="313D71"/>
                          </a:solidFill>
                          <a:latin typeface="Consolas"/>
                        </a:rPr>
                        <a:t>███████████░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313D71"/>
                          </a:solidFill>
                          <a:latin typeface="Trebuchet MS"/>
                        </a:rPr>
                        <a:t>0.905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740" b="0" i="0">
                          <a:solidFill>
                            <a:srgbClr val="B4472F"/>
                          </a:solidFill>
                          <a:latin typeface="Trebuchet MS"/>
                        </a:rPr>
                        <a:t>−3.6%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</a:tr>
              <a:tr h="15361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B1F2E"/>
                          </a:solidFill>
                          <a:latin typeface="Trebuchet MS"/>
                        </a:rPr>
                        <a:t>Half the rows a day out of date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660" b="0" i="0">
                          <a:solidFill>
                            <a:srgbClr val="313D71"/>
                          </a:solidFill>
                          <a:latin typeface="Consolas"/>
                        </a:rPr>
                        <a:t>███████████░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313D71"/>
                          </a:solidFill>
                          <a:latin typeface="Trebuchet MS"/>
                        </a:rPr>
                        <a:t>0.894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740" b="0" i="0">
                          <a:solidFill>
                            <a:srgbClr val="B4472F"/>
                          </a:solidFill>
                          <a:latin typeface="Trebuchet MS"/>
                        </a:rPr>
                        <a:t>−4.7%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</a:tr>
              <a:tr h="15361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B1F2E"/>
                          </a:solidFill>
                          <a:latin typeface="Trebuchet MS"/>
                        </a:rPr>
                        <a:t>5% random noise added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660" b="0" i="0">
                          <a:solidFill>
                            <a:srgbClr val="313D71"/>
                          </a:solidFill>
                          <a:latin typeface="Consolas"/>
                        </a:rPr>
                        <a:t>█████████░░░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313D71"/>
                          </a:solidFill>
                          <a:latin typeface="Trebuchet MS"/>
                        </a:rPr>
                        <a:t>0.789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740" b="0" i="0">
                          <a:solidFill>
                            <a:srgbClr val="B4472F"/>
                          </a:solidFill>
                          <a:latin typeface="Trebuchet MS"/>
                        </a:rPr>
                        <a:t>−15.2%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</a:tr>
              <a:tr h="137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20" b="1" i="0">
                          <a:solidFill>
                            <a:srgbClr val="313D71"/>
                          </a:solidFill>
                          <a:latin typeface="Trebuchet MS"/>
                        </a:rPr>
                        <a:t>ON DATA IT WAS NEVER TRAINED ON</a:t>
                      </a:r>
                    </a:p>
                  </a:txBody>
                  <a:tcPr marL="18288" marR="18288" marT="7315" marB="7315" anchor="b">
                    <a:lnB w="9525" cap="flat" cmpd="sng" algn="ctr">
                      <a:solidFill>
                        <a:srgbClr val="C9CED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7315" marB="7315" anchor="ctr">
                    <a:lnB w="9525" cap="flat" cmpd="sng" algn="ctr">
                      <a:solidFill>
                        <a:srgbClr val="C9CED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7315" marB="7315" anchor="ctr">
                    <a:lnB w="9525" cap="flat" cmpd="sng" algn="ctr">
                      <a:solidFill>
                        <a:srgbClr val="C9CED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B1F2E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7315" marB="7315" anchor="ctr">
                    <a:lnB w="9525" cap="flat" cmpd="sng" algn="ctr">
                      <a:solidFill>
                        <a:srgbClr val="C9CEDC"/>
                      </a:solidFill>
                    </a:lnB>
                    <a:noFill/>
                  </a:tcPr>
                </a:tc>
              </a:tr>
              <a:tr h="15361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B1F2E"/>
                          </a:solidFill>
                          <a:latin typeface="Trebuchet MS"/>
                        </a:rPr>
                        <a:t>A later stretch of time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660" b="0" i="0">
                          <a:solidFill>
                            <a:srgbClr val="313D71"/>
                          </a:solidFill>
                          <a:latin typeface="Consolas"/>
                        </a:rPr>
                        <a:t>███████████░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313D71"/>
                          </a:solidFill>
                          <a:latin typeface="Trebuchet MS"/>
                        </a:rPr>
                        <a:t>0.944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740" b="0" i="0">
                          <a:solidFill>
                            <a:srgbClr val="B4472F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</a:tr>
              <a:tr h="15361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1B1F2E"/>
                          </a:solidFill>
                          <a:latin typeface="Trebuchet MS"/>
                        </a:rPr>
                        <a:t>Shares held out entirely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660" b="0" i="0">
                          <a:solidFill>
                            <a:srgbClr val="313D71"/>
                          </a:solidFill>
                          <a:latin typeface="Consolas"/>
                        </a:rPr>
                        <a:t>███████████░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313D71"/>
                          </a:solidFill>
                          <a:latin typeface="Trebuchet MS"/>
                        </a:rPr>
                        <a:t>0.929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740" b="0" i="0">
                          <a:solidFill>
                            <a:srgbClr val="B4472F"/>
                          </a:solidFill>
                          <a:latin typeface="Trebuchet MS"/>
                        </a:rPr>
                        <a:t> </a:t>
                      </a:r>
                    </a:p>
                  </a:txBody>
                  <a:tcPr marL="18288" marR="18288" marT="10972" marB="10972" anchor="ctr">
                    <a:noFill/>
                  </a:tcPr>
                </a:tc>
              </a:tr>
            </a:tbl>
          </a:graphicData>
        </a:graphic>
      </p:graphicFrame>
      <p:sp>
        <p:nvSpPr>
          <p:cNvPr id="213" name="TextBox 212"/>
          <p:cNvSpPr txBox="1"/>
          <p:nvPr/>
        </p:nvSpPr>
        <p:spPr>
          <a:xfrm>
            <a:off x="8016544" y="5279745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70" b="0" i="0">
                <a:solidFill>
                  <a:srgbClr val="5C6478"/>
                </a:solidFill>
                <a:latin typeface="Trebuchet MS"/>
              </a:rPr>
              <a:t>Quality = AUPRC on 3,855 held-out days  ·  10 random starts: 0.9393 ± 0.0016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481888" y="5687568"/>
            <a:ext cx="11228832" cy="676656"/>
          </a:xfrm>
          <a:prstGeom prst="roundRect">
            <a:avLst>
              <a:gd name="adj" fmla="val 6756"/>
            </a:avLst>
          </a:prstGeom>
          <a:solidFill>
            <a:srgbClr val="FBF3E8"/>
          </a:solidFill>
          <a:ln w="16510">
            <a:solidFill>
              <a:srgbClr val="EF7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81888" y="5687568"/>
            <a:ext cx="77724" cy="676656"/>
          </a:xfrm>
          <a:prstGeom prst="rect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701344" y="574243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EF7F1B"/>
                </a:solidFill>
                <a:latin typeface="Trebuchet MS"/>
              </a:rPr>
              <a:t>WHAT THIS MEANS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01344" y="5888736"/>
            <a:ext cx="10789919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0" i="0">
                <a:solidFill>
                  <a:srgbClr val="1B1F2E"/>
                </a:solidFill>
                <a:latin typeface="Trebuchet MS"/>
              </a:rPr>
              <a:t>The system reliably points at share-days whose price and trading behaviour is unusual, and those days really do behave differently on the exchange's own records.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01344" y="6080760"/>
            <a:ext cx="10789919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5C6478"/>
                </a:solidFill>
                <a:latin typeface="Trebuchet MS"/>
              </a:rPr>
              <a:t>It does not, and cannot, prove that anyone manipulated anything — it flags activity worth a closer look. The known unusual days here are planted test cases, so these figures describe the system, not the market.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85cdd0013_0_74"/>
          <p:cNvSpPr txBox="1"/>
          <p:nvPr/>
        </p:nvSpPr>
        <p:spPr>
          <a:xfrm>
            <a:off x="2971800" y="10251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g3785cdd0013_0_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785cdd0013_0_74"/>
          <p:cNvSpPr txBox="1"/>
          <p:nvPr/>
        </p:nvSpPr>
        <p:spPr>
          <a:xfrm>
            <a:off x="76201" y="63110"/>
            <a:ext cx="576072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Market Manipulation Using Multi-Source Signals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785cdd0013_0_7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81888" y="175564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5C6478"/>
                </a:solidFill>
                <a:latin typeface="Trebuchet MS"/>
              </a:rPr>
              <a:t>WHERE EACH PART OF THE SYSTEM COMES FROM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481888" y="1993391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EF1F8"/>
          </a:solidFill>
          <a:ln w="1524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81888" y="1993391"/>
            <a:ext cx="68580" cy="566928"/>
          </a:xfrm>
          <a:prstGeom prst="rect">
            <a:avLst/>
          </a:prstGeom>
          <a:solidFill>
            <a:srgbClr val="31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83056" y="1993391"/>
            <a:ext cx="2139696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313D71"/>
                </a:solidFill>
                <a:latin typeface="Trebuchet MS"/>
              </a:rPr>
              <a:t>Turning prices into measures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530144" y="1993391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1019" b="1" i="0">
                <a:solidFill>
                  <a:srgbClr val="EF7F1B"/>
                </a:solidFill>
                <a:latin typeface="Trebuchet MS"/>
              </a:rPr>
              <a:t>[1] [2] [3] [4]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481888" y="267004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EF1F8"/>
          </a:solidFill>
          <a:ln w="1524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1888" y="2670048"/>
            <a:ext cx="68580" cy="566928"/>
          </a:xfrm>
          <a:prstGeom prst="rect">
            <a:avLst/>
          </a:prstGeom>
          <a:solidFill>
            <a:srgbClr val="31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3056" y="2670048"/>
            <a:ext cx="2139696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313D71"/>
                </a:solidFill>
                <a:latin typeface="Trebuchet MS"/>
              </a:rPr>
              <a:t>Deciding what counts as unusual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530144" y="2670048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1019" b="1" i="0">
                <a:solidFill>
                  <a:srgbClr val="EF7F1B"/>
                </a:solidFill>
                <a:latin typeface="Trebuchet MS"/>
              </a:rPr>
              <a:t>[5] [6]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481888" y="3346703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EF1F8"/>
          </a:solidFill>
          <a:ln w="1524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1888" y="3346703"/>
            <a:ext cx="68580" cy="566928"/>
          </a:xfrm>
          <a:prstGeom prst="rect">
            <a:avLst/>
          </a:prstGeom>
          <a:solidFill>
            <a:srgbClr val="31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83056" y="3346703"/>
            <a:ext cx="2139696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313D71"/>
                </a:solidFill>
                <a:latin typeface="Trebuchet MS"/>
              </a:rPr>
              <a:t>Learning and scoring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530144" y="3346703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1019" b="1" i="0">
                <a:solidFill>
                  <a:srgbClr val="EF7F1B"/>
                </a:solidFill>
                <a:latin typeface="Trebuchet MS"/>
              </a:rPr>
              <a:t>[7] [8] [11]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481888" y="4023359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EF1F8"/>
          </a:solidFill>
          <a:ln w="1524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81888" y="4023359"/>
            <a:ext cx="68580" cy="566928"/>
          </a:xfrm>
          <a:prstGeom prst="rect">
            <a:avLst/>
          </a:prstGeom>
          <a:solidFill>
            <a:srgbClr val="31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83056" y="4023359"/>
            <a:ext cx="2139696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313D71"/>
                </a:solidFill>
                <a:latin typeface="Trebuchet MS"/>
              </a:rPr>
              <a:t>Judging the result honestly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2530144" y="4023359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1019" b="1" i="0">
                <a:solidFill>
                  <a:srgbClr val="EF7F1B"/>
                </a:solidFill>
                <a:latin typeface="Trebuchet MS"/>
              </a:rPr>
              <a:t>[9] [10]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81888" y="470001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EF1F8"/>
          </a:solidFill>
          <a:ln w="15240">
            <a:solidFill>
              <a:srgbClr val="31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81888" y="4700016"/>
            <a:ext cx="68580" cy="566928"/>
          </a:xfrm>
          <a:prstGeom prst="rect">
            <a:avLst/>
          </a:prstGeom>
          <a:solidFill>
            <a:srgbClr val="31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83056" y="4700016"/>
            <a:ext cx="2139696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313D71"/>
                </a:solidFill>
                <a:latin typeface="Trebuchet MS"/>
              </a:rPr>
              <a:t>The data itself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530144" y="4700016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1019" b="1" i="0">
                <a:solidFill>
                  <a:srgbClr val="EF7F1B"/>
                </a:solidFill>
                <a:latin typeface="Trebuchet MS"/>
              </a:rPr>
              <a:t>[12]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084624" y="175564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5C6478"/>
                </a:solidFill>
                <a:latin typeface="Trebuchet MS"/>
              </a:rPr>
              <a:t>REFERENCES  —  IEEE FORMAT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084624" y="1975104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[1]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395520" y="1975104"/>
            <a:ext cx="7315200" cy="1539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40" b="0" i="0">
                <a:solidFill>
                  <a:srgbClr val="1B1F2E"/>
                </a:solidFill>
                <a:latin typeface="Trebuchet MS"/>
              </a:rPr>
              <a:t>Y. Amihud, "Illiquidity and stock returns: Cross-section and time-series effects," Journal of Financial Markets, vol. 5, no. 1, pp. 31–56, Jan. 2002.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084624" y="2197668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[2]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395520" y="2197668"/>
            <a:ext cx="7315200" cy="1539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40" b="0" i="0">
                <a:solidFill>
                  <a:srgbClr val="1B1F2E"/>
                </a:solidFill>
                <a:latin typeface="Trebuchet MS"/>
              </a:rPr>
              <a:t>A. S. Kyle, "Continuous auctions and insider trading," Econometrica, vol. 53, no. 6, pp. 1315–1335, Nov. 1985.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084624" y="2420233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[3]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395520" y="2420233"/>
            <a:ext cx="7315200" cy="1539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40" b="0" i="0">
                <a:solidFill>
                  <a:srgbClr val="1B1F2E"/>
                </a:solidFill>
                <a:latin typeface="Trebuchet MS"/>
              </a:rPr>
              <a:t>C. M. C. Lee and M. J. Ready, "Inferring trade direction from intraday data," The Journal of Finance, vol. 46, no. 2, pp. 733–746, Jun. 1991.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084624" y="2642798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[4]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395520" y="2642798"/>
            <a:ext cx="7315200" cy="289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40" b="0" i="0">
                <a:solidFill>
                  <a:srgbClr val="1B1F2E"/>
                </a:solidFill>
                <a:latin typeface="Trebuchet MS"/>
              </a:rPr>
              <a:t>T. G. Andersen, T. Bollerslev, F. X. Diebold, and P. Labys, "Modeling and forecasting realized volatility," Econometrica, vol. 71, no. 2, pp. 579–625, Mar. 2003.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084624" y="3001060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[5]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395520" y="3001060"/>
            <a:ext cx="7315200" cy="1539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40" b="0" i="0">
                <a:solidFill>
                  <a:srgbClr val="1B1F2E"/>
                </a:solidFill>
                <a:latin typeface="Trebuchet MS"/>
              </a:rPr>
              <a:t>D. R. Cox and P. A. W. Lewis, The Statistical Analysis of Series of Events. London, U.K.: Methuen, 1966.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084624" y="3223625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[6]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395520" y="3223625"/>
            <a:ext cx="7315200" cy="1539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40" b="0" i="0">
                <a:solidFill>
                  <a:srgbClr val="1B1F2E"/>
                </a:solidFill>
                <a:latin typeface="Trebuchet MS"/>
              </a:rPr>
              <a:t>V. Vovk, A. Gammerman, and G. Shafer, Algorithmic Learning in a Random World. New York, NY, USA: Springer, 2005.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084624" y="3446190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[7]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395520" y="3446190"/>
            <a:ext cx="7315200" cy="1539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40" b="0" i="0">
                <a:solidFill>
                  <a:srgbClr val="1B1F2E"/>
                </a:solidFill>
                <a:latin typeface="Trebuchet MS"/>
              </a:rPr>
              <a:t>J. H. Friedman, "Greedy function approximation: A gradient boosting machine," The Annals of Statistics, vol. 29, no. 5, pp. 1189–1232, Oct. 2001.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4084624" y="3668755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[8]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395520" y="3668755"/>
            <a:ext cx="7315200" cy="289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40" b="0" i="0">
                <a:solidFill>
                  <a:srgbClr val="1B1F2E"/>
                </a:solidFill>
                <a:latin typeface="Trebuchet MS"/>
              </a:rPr>
              <a:t>B. Zadrozny and C. Elkan, "Transforming classifier scores into accurate multiclass probability estimates," in Proc. 8th ACM SIGKDD Int. Conf. Knowledge Discovery and Data Mining, 2002, pp. 694–699.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084624" y="4027017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[9]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395520" y="4027017"/>
            <a:ext cx="7315200" cy="1539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40" b="0" i="0">
                <a:solidFill>
                  <a:srgbClr val="1B1F2E"/>
                </a:solidFill>
                <a:latin typeface="Trebuchet MS"/>
              </a:rPr>
              <a:t>J. Davis and M. Goadrich, "The relationship between Precision-Recall and ROC curves," in Proc. 23rd Int. Conf. Machine Learning, 2006, pp. 233–240.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084624" y="4249582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[10]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395520" y="4249582"/>
            <a:ext cx="7315200" cy="289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40" b="0" i="0">
                <a:solidFill>
                  <a:srgbClr val="1B1F2E"/>
                </a:solidFill>
                <a:latin typeface="Trebuchet MS"/>
              </a:rPr>
              <a:t>Y. Benjamini and Y. Hochberg, "Controlling the false discovery rate: A practical and powerful approach to multiple testing," Journal of the Royal Statistical Society: Series B, vol. 57, no. 1, pp. 289–300, 1995.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084624" y="4607844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[11]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395520" y="4607844"/>
            <a:ext cx="7315200" cy="1539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40" b="0" i="0">
                <a:solidFill>
                  <a:srgbClr val="1B1F2E"/>
                </a:solidFill>
                <a:latin typeface="Trebuchet MS"/>
              </a:rPr>
              <a:t>F. Pedregosa et al., "Scikit-learn: Machine learning in Python," Journal of Machine Learning Research, vol. 12, pp. 2825–2830, Oct. 2011.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084624" y="4830409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EF7F1B"/>
                </a:solidFill>
                <a:latin typeface="Trebuchet MS"/>
              </a:rPr>
              <a:t>[12]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395520" y="4830409"/>
            <a:ext cx="7315200" cy="289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40" b="0" i="0">
                <a:solidFill>
                  <a:srgbClr val="1B1F2E"/>
                </a:solidFill>
                <a:latin typeface="Trebuchet MS"/>
              </a:rPr>
              <a:t>National Stock Exchange of India, "Daily bhavcopy and securities price-band reports," NSE, Mumbai, India. [Online]. Available: https://www.nseindia.com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084624" y="5261823"/>
            <a:ext cx="7626096" cy="1432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 i="1">
                <a:solidFill>
                  <a:srgbClr val="5C6478"/>
                </a:solidFill>
                <a:latin typeface="Trebuchet MS"/>
              </a:rPr>
              <a:t>Each reference above corresponds to a method that is actually implemented in the project's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85cdd0013_0_83"/>
          <p:cNvSpPr/>
          <p:nvPr/>
        </p:nvSpPr>
        <p:spPr>
          <a:xfrm>
            <a:off x="4842760" y="2812475"/>
            <a:ext cx="2506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336</Words>
  <Application>Microsoft Office PowerPoint</Application>
  <PresentationFormat>Widescreen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Noto Sans Symbols</vt:lpstr>
      <vt:lpstr>Trebuchet MS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Admin</cp:lastModifiedBy>
  <cp:revision>2</cp:revision>
  <dcterms:created xsi:type="dcterms:W3CDTF">2023-02-02T07:40:50Z</dcterms:created>
  <dcterms:modified xsi:type="dcterms:W3CDTF">2026-08-17T08:47:50Z</dcterms:modified>
</cp:coreProperties>
</file>